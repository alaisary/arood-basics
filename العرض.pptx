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رحّبي بالطالبات وقدّمي الخليل بوصفه رفيق الرحلة. شغّلي إيقاع المتقارب واطلبي منهن النقر على الطاولة مع كل نبضة: القصيرة «ٮ» والطويلة «-».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اقرئي الأهداف الأربعة، واسألي الطالبات عمّا يعرفنه مسبقًا لمعرفة نقطة البداية.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عرّفي بالخليل وأكّدي أصله العُماني ومعجم العين. وأكّدي أنه وُلد في عُمان وعاش في البصرة.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احكي قصة سوق الصفارين بأسلوب قصصي. شغّلي صوت المطرقة، ثم اطلبي من طالبة أن تقلّد الإيقاع على الطبلة أمام زميلاتها.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اكتبي التعريف على السبورة. اربطي بين الميزان والبضاعة وبين العروض والشعر، واسألي الطالبات: لماذا نحتاج ميزانًا للشعر؟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اشرحي سبب تسمية البيت بيتًا. اقرئي البيت بصوت واضح، ووضّحي أن للبيت شطرين كمصراعَي باب الخيمة.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اقرئي البيت ثم وضّحي تقسيمه. استخدمي الأزرار لتلوين الصدر والعجز والعروض والضرب والحشو، واسألي الطالبات قبل الضغط.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وزّعي بطاقات الأدوار على أفراد المجموعة: القارئ، المتحدث، الكاتب، المدقق، مسؤول الوقت، مسؤول السبورة. تقرأ القارئة البيتين للبهلاني، وتحدد المجموعة الصدر والعجز والعروض والضرب والحشو، ثم تأتي ممثلة كل مجموعة لتحدد جزءًا على الشاشة.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عرّفي الروي ونسبة القصيدة إليه. اقرئي آخر كل بيت ببطء ليسمعن الحرف الأخير، ثم نفّذي السؤالين.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اذكري أن البحور ستة عشر. اطلبي من الطالبات تخمين اسم البحر من الصورة، ثم انقري البطاقة لكشف الاسم.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اضغطي على كل تفعيلة لتسمعها الطالبات ويصفّقن معها.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راجعي قاعدة: ما يُنطق يُكتب، وما لا يُنطق لا يُكتب. اطلبي كتابة الكلمات الأربع في الدفتر قبل كشف الإجابة.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اكشفي الخطوات تدريجيًا للمثالين: الكتابة العادية، ثم العروضية، ثم الرموز، ثم التفعيلة. بعد ذلك ابدئي نشاط «اقصصي واكتبي»: تخرج طالبة من كل مجموعة فتقصّ بطاقة وتكتب إجابتها، ثم تعود وتخرج زميلتها لبطاقة أخرى. شغّلي المؤقت (٤ دقائق)، والفائزة المجموعة التي تجمع أكبر عدد من البطاقات الصحيحة.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لخّصي الدرس في أربع نقاط، ثم نفّذي تذكرة الخروج. تظهر النتيجة بعد الإجابة عن الأسئلة الأربعة.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10.jpeg"/><Relationship Id="rId4" Type="http://schemas.openxmlformats.org/officeDocument/2006/relationships/image" Target="../media/image13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1.jpeg"/><Relationship Id="rId8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0.jpeg"/><Relationship Id="rId4" Type="http://schemas.openxmlformats.org/officeDocument/2006/relationships/image" Target="../media/image17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5.jpeg"/><Relationship Id="rId8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Relationship Id="rId4" Type="http://schemas.openxmlformats.org/officeDocument/2006/relationships/image" Target="../media/image20.sv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3" Type="http://schemas.openxmlformats.org/officeDocument/2006/relationships/image" Target="../media/image10.jpeg"/><Relationship Id="rId4" Type="http://schemas.openxmlformats.org/officeDocument/2006/relationships/image" Target="../media/image26.png"/><Relationship Id="rId5" Type="http://schemas.openxmlformats.org/officeDocument/2006/relationships/image" Target="../media/image26.svg"/><Relationship Id="rId6" Type="http://schemas.openxmlformats.org/officeDocument/2006/relationships/image" Target="../media/image27.png"/><Relationship Id="rId7" Type="http://schemas.openxmlformats.org/officeDocument/2006/relationships/image" Target="../media/image24.jpeg"/><Relationship Id="rId8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eg"/><Relationship Id="rId3" Type="http://schemas.openxmlformats.org/officeDocument/2006/relationships/image" Target="../media/image29.pn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4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jpeg"/><Relationship Id="rId3" Type="http://schemas.openxmlformats.org/officeDocument/2006/relationships/image" Target="../media/image38.png"/><Relationship Id="rId4" Type="http://schemas.openxmlformats.org/officeDocument/2006/relationships/image" Target="../media/image38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eg"/><Relationship Id="rId3" Type="http://schemas.openxmlformats.org/officeDocument/2006/relationships/image" Target="../media/image10.jpeg"/><Relationship Id="rId4" Type="http://schemas.openxmlformats.org/officeDocument/2006/relationships/image" Target="../media/image47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3.jpeg"/><Relationship Id="rId8" Type="http://schemas.openxmlformats.org/officeDocument/2006/relationships/image" Target="../media/image42.jpeg"/><Relationship Id="rId9" Type="http://schemas.openxmlformats.org/officeDocument/2006/relationships/image" Target="../media/image44.jpeg"/><Relationship Id="rId10" Type="http://schemas.openxmlformats.org/officeDocument/2006/relationships/image" Target="../media/image45.jpeg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jpeg"/><Relationship Id="rId3" Type="http://schemas.openxmlformats.org/officeDocument/2006/relationships/image" Target="../media/image50.png"/><Relationship Id="rId4" Type="http://schemas.openxmlformats.org/officeDocument/2006/relationships/image" Target="../media/image50.sv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jpeg"/><Relationship Id="rId3" Type="http://schemas.openxmlformats.org/officeDocument/2006/relationships/image" Target="../media/image55.png"/><Relationship Id="rId4" Type="http://schemas.openxmlformats.org/officeDocument/2006/relationships/image" Target="../media/image55.sv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jpeg"/><Relationship Id="rId3" Type="http://schemas.openxmlformats.org/officeDocument/2006/relationships/image" Target="../media/image60.png"/><Relationship Id="rId4" Type="http://schemas.openxmlformats.org/officeDocument/2006/relationships/image" Target="../media/image60.sv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jpeg"/><Relationship Id="rId3" Type="http://schemas.openxmlformats.org/officeDocument/2006/relationships/image" Target="../media/image65.png"/><Relationship Id="rId4" Type="http://schemas.openxmlformats.org/officeDocument/2006/relationships/image" Target="../media/image65.sv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درس في موسيقى الشعر العربي"/>
          <p:cNvSpPr txBox="1"/>
          <p:nvPr/>
        </p:nvSpPr>
        <p:spPr>
          <a:xfrm>
            <a:off x="8473281" y="234637"/>
            <a:ext cx="263926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درس في موسيقى الشعر العربي</a:t>
            </a:r>
            <a:endParaRPr lang="en-US" sz="1500" dirty="0"/>
          </a:p>
        </p:txBody>
      </p:sp>
      <p:sp>
        <p:nvSpPr>
          <p:cNvPr id="4" name="Rounded Rectangle"/>
          <p:cNvSpPr/>
          <p:nvPr/>
        </p:nvSpPr>
        <p:spPr>
          <a:xfrm>
            <a:off x="11188750" y="369635"/>
            <a:ext cx="304752" cy="25376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5" name="Text: أساسيات في علم العَروض"/>
          <p:cNvSpPr txBox="1"/>
          <p:nvPr/>
        </p:nvSpPr>
        <p:spPr>
          <a:xfrm>
            <a:off x="7974509" y="788038"/>
            <a:ext cx="3518991" cy="2286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أساسيات في</a:t>
            </a:r>
            <a:br>
              <a:rPr lang="en-US" sz="7500"/>
            </a:br>
            <a:r>
              <a:rPr lang="en-US" sz="7500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علم العَروض</a:t>
            </a:r>
            <a:endParaRPr lang="en-US" sz="7500" dirty="0"/>
          </a:p>
        </p:txBody>
      </p:sp>
      <p:sp>
        <p:nvSpPr>
          <p:cNvPr id="6" name="Text: رحلة مع الخليل بن أحمد الفراهيدي إلى ميز"/>
          <p:cNvSpPr txBox="1"/>
          <p:nvPr/>
        </p:nvSpPr>
        <p:spPr>
          <a:xfrm>
            <a:off x="6458000" y="3078836"/>
            <a:ext cx="5035500" cy="3619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رحلة مع الخليل بن أحمد الفراهيدي إلى ميزان الشعر</a:t>
            </a:r>
            <a:endParaRPr lang="en-US" sz="1900" dirty="0"/>
          </a:p>
        </p:txBody>
      </p:sp>
      <p:pic>
        <p:nvPicPr>
          <p:cNvPr id="7" name="Rendered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3600450"/>
            <a:ext cx="4594225" cy="1054100"/>
          </a:xfrm>
          <a:prstGeom prst="rect">
            <a:avLst/>
          </a:prstGeom>
          <a:ln>
            <a:noFill/>
          </a:ln>
        </p:spPr>
      </p:pic>
      <p:sp>
        <p:nvSpPr>
          <p:cNvPr id="8" name="Rectangle"/>
          <p:cNvSpPr/>
          <p:nvPr/>
        </p:nvSpPr>
        <p:spPr>
          <a:xfrm>
            <a:off x="10991949" y="3642951"/>
            <a:ext cx="19002" cy="791224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9" name="Ellipse"/>
          <p:cNvSpPr/>
          <p:nvPr/>
        </p:nvSpPr>
        <p:spPr>
          <a:xfrm>
            <a:off x="11163399" y="3769530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0" name="Ellipse"/>
          <p:cNvSpPr/>
          <p:nvPr/>
        </p:nvSpPr>
        <p:spPr>
          <a:xfrm>
            <a:off x="11163399" y="4022689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1" name="Ellipse"/>
          <p:cNvSpPr/>
          <p:nvPr/>
        </p:nvSpPr>
        <p:spPr>
          <a:xfrm>
            <a:off x="11163399" y="4275907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2" name="Text: إعداد المعلمة: أ. أسماء الحارثية"/>
          <p:cNvSpPr txBox="1"/>
          <p:nvPr/>
        </p:nvSpPr>
        <p:spPr>
          <a:xfrm>
            <a:off x="8285659" y="4016616"/>
            <a:ext cx="2547491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إعداد المعلمة:</a:t>
            </a:r>
            <a:br>
              <a:rPr lang="en-US" sz="1500"/>
            </a:br>
            <a:r>
              <a:rPr lang="en-US" sz="15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أ. أسماء الحارثية</a:t>
            </a:r>
            <a:endParaRPr lang="en-US" sz="1500" dirty="0"/>
          </a:p>
        </p:txBody>
      </p:sp>
      <p:sp>
        <p:nvSpPr>
          <p:cNvPr id="13" name="Text: م د ر س ة س م ي ة ل ل ت ع ل ي م م ا ب ع "/>
          <p:cNvSpPr txBox="1"/>
          <p:nvPr/>
        </p:nvSpPr>
        <p:spPr>
          <a:xfrm>
            <a:off x="7416056" y="4325276"/>
            <a:ext cx="341709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(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١٠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–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١٢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)</a:t>
            </a:r>
            <a:endParaRPr lang="en-US" sz="1500" dirty="0"/>
          </a:p>
        </p:txBody>
      </p:sp>
      <p:pic>
        <p:nvPicPr>
          <p:cNvPr id="14" name="Rendered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15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16" name="Rounded Rectangle"/>
          <p:cNvSpPr/>
          <p:nvPr/>
        </p:nvSpPr>
        <p:spPr>
          <a:xfrm>
            <a:off x="2713484" y="520688"/>
            <a:ext cx="1858517" cy="463502"/>
          </a:xfrm>
          <a:prstGeom prst="roundRect">
            <a:avLst>
              <a:gd name="adj" fmla="val 3288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sx="100000" sy="100000" algn="ctr" rotWithShape="0">
              <a:srgbClr val="2A2233">
                <a:alpha val="16000"/>
              </a:srgbClr>
            </a:outerShdw>
          </a:effectLst>
        </p:spPr>
      </p:sp>
      <p:sp>
        <p:nvSpPr>
          <p:cNvPr id="17" name="Text: أهلًا بكِ يا صديقتي!"/>
          <p:cNvSpPr txBox="1"/>
          <p:nvPr/>
        </p:nvSpPr>
        <p:spPr>
          <a:xfrm>
            <a:off x="2865884" y="604753"/>
            <a:ext cx="1553766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أهلًا بكِ يا صديقتي!</a:t>
            </a:r>
            <a:endParaRPr lang="en-US" sz="1500" dirty="0"/>
          </a:p>
        </p:txBody>
      </p:sp>
      <p:sp>
        <p:nvSpPr>
          <p:cNvPr id="18" name="Rounded Rectangle"/>
          <p:cNvSpPr/>
          <p:nvPr/>
        </p:nvSpPr>
        <p:spPr>
          <a:xfrm>
            <a:off x="698500" y="4495752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19" name="Rounded Rectangle"/>
          <p:cNvSpPr/>
          <p:nvPr/>
        </p:nvSpPr>
        <p:spPr>
          <a:xfrm>
            <a:off x="10101808" y="4635440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0" name="Text: نشاط تفاعلي"/>
          <p:cNvSpPr txBox="1"/>
          <p:nvPr/>
        </p:nvSpPr>
        <p:spPr>
          <a:xfrm>
            <a:off x="10216059" y="4668115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21" name="Text: اسمعي نبض الشعر — هذا إيقاع بحر المتقارب"/>
          <p:cNvSpPr txBox="1"/>
          <p:nvPr/>
        </p:nvSpPr>
        <p:spPr>
          <a:xfrm>
            <a:off x="6250980" y="4640070"/>
            <a:ext cx="373657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اسمعي نبض الشعر — هذا إيقاع بحر المتقارب</a:t>
            </a:r>
            <a:endParaRPr lang="en-US" sz="1500" dirty="0"/>
          </a:p>
        </p:txBody>
      </p:sp>
      <p:sp>
        <p:nvSpPr>
          <p:cNvPr id="22" name="Rounded Rectangle"/>
          <p:cNvSpPr/>
          <p:nvPr/>
        </p:nvSpPr>
        <p:spPr>
          <a:xfrm>
            <a:off x="10004127" y="5394253"/>
            <a:ext cx="1235364" cy="488878"/>
          </a:xfrm>
          <a:prstGeom prst="roundRect">
            <a:avLst>
              <a:gd name="adj" fmla="val 20782"/>
            </a:avLst>
          </a:prstGeom>
          <a:solidFill>
            <a:srgbClr val="D99A1E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23" name="Text: ▶ اسمعي"/>
          <p:cNvSpPr txBox="1"/>
          <p:nvPr/>
        </p:nvSpPr>
        <p:spPr>
          <a:xfrm>
            <a:off x="10194627" y="5491006"/>
            <a:ext cx="854373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▶ اسمعي</a:t>
            </a:r>
            <a:endParaRPr lang="en-US" sz="1500" dirty="0"/>
          </a:p>
        </p:txBody>
      </p:sp>
      <p:sp>
        <p:nvSpPr>
          <p:cNvPr id="24" name="Text: فَعُولُنْ فَعُولُنْ فَعُولُنْ فَعُولُ"/>
          <p:cNvSpPr txBox="1"/>
          <p:nvPr/>
        </p:nvSpPr>
        <p:spPr>
          <a:xfrm>
            <a:off x="8153499" y="5322177"/>
            <a:ext cx="1698278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فَعُولُنْ فَعُولُنْ فَعُولُنْ فَعُولُ</a:t>
            </a:r>
            <a:endParaRPr lang="en-US" sz="1700" dirty="0"/>
          </a:p>
        </p:txBody>
      </p:sp>
      <p:sp>
        <p:nvSpPr>
          <p:cNvPr id="25" name="Ellipse"/>
          <p:cNvSpPr/>
          <p:nvPr/>
        </p:nvSpPr>
        <p:spPr>
          <a:xfrm>
            <a:off x="9571800" y="5701590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26" name="Text: ٮ"/>
          <p:cNvSpPr txBox="1"/>
          <p:nvPr/>
        </p:nvSpPr>
        <p:spPr>
          <a:xfrm>
            <a:off x="9634786" y="5736486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27" name="Rounded Rectangle"/>
          <p:cNvSpPr/>
          <p:nvPr/>
        </p:nvSpPr>
        <p:spPr>
          <a:xfrm>
            <a:off x="8988939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28" name="Text: -"/>
          <p:cNvSpPr txBox="1"/>
          <p:nvPr/>
        </p:nvSpPr>
        <p:spPr>
          <a:xfrm>
            <a:off x="9217025" y="5736486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29" name="Rounded Rectangle"/>
          <p:cNvSpPr/>
          <p:nvPr/>
        </p:nvSpPr>
        <p:spPr>
          <a:xfrm>
            <a:off x="8406079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0" name="Text: -"/>
          <p:cNvSpPr txBox="1"/>
          <p:nvPr/>
        </p:nvSpPr>
        <p:spPr>
          <a:xfrm>
            <a:off x="8634164" y="5736486"/>
            <a:ext cx="5804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1" name="Ellipse"/>
          <p:cNvSpPr/>
          <p:nvPr/>
        </p:nvSpPr>
        <p:spPr>
          <a:xfrm>
            <a:off x="8063179" y="5701590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2" name="Text: ٮ"/>
          <p:cNvSpPr txBox="1"/>
          <p:nvPr/>
        </p:nvSpPr>
        <p:spPr>
          <a:xfrm>
            <a:off x="8126214" y="5736486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33" name="Rounded Rectangle"/>
          <p:cNvSpPr/>
          <p:nvPr/>
        </p:nvSpPr>
        <p:spPr>
          <a:xfrm>
            <a:off x="7480318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4" name="Text: -"/>
          <p:cNvSpPr txBox="1"/>
          <p:nvPr/>
        </p:nvSpPr>
        <p:spPr>
          <a:xfrm>
            <a:off x="7708404" y="5736486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5" name="Rounded Rectangle"/>
          <p:cNvSpPr/>
          <p:nvPr/>
        </p:nvSpPr>
        <p:spPr>
          <a:xfrm>
            <a:off x="6897457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6" name="Text: -"/>
          <p:cNvSpPr txBox="1"/>
          <p:nvPr/>
        </p:nvSpPr>
        <p:spPr>
          <a:xfrm>
            <a:off x="7125543" y="5736486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7" name="Ellipse"/>
          <p:cNvSpPr/>
          <p:nvPr/>
        </p:nvSpPr>
        <p:spPr>
          <a:xfrm>
            <a:off x="6554557" y="5701590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8" name="Text: ٮ"/>
          <p:cNvSpPr txBox="1"/>
          <p:nvPr/>
        </p:nvSpPr>
        <p:spPr>
          <a:xfrm>
            <a:off x="6617593" y="5736486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39" name="Rounded Rectangle"/>
          <p:cNvSpPr/>
          <p:nvPr/>
        </p:nvSpPr>
        <p:spPr>
          <a:xfrm>
            <a:off x="5971697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40" name="Text: -"/>
          <p:cNvSpPr txBox="1"/>
          <p:nvPr/>
        </p:nvSpPr>
        <p:spPr>
          <a:xfrm>
            <a:off x="6199783" y="5736486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41" name="Rounded Rectangle"/>
          <p:cNvSpPr/>
          <p:nvPr/>
        </p:nvSpPr>
        <p:spPr>
          <a:xfrm>
            <a:off x="5388836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42" name="Text: -"/>
          <p:cNvSpPr txBox="1"/>
          <p:nvPr/>
        </p:nvSpPr>
        <p:spPr>
          <a:xfrm>
            <a:off x="5616922" y="5736486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43" name="Ellipse"/>
          <p:cNvSpPr/>
          <p:nvPr/>
        </p:nvSpPr>
        <p:spPr>
          <a:xfrm>
            <a:off x="5045986" y="5701590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44" name="Text: ٮ"/>
          <p:cNvSpPr txBox="1"/>
          <p:nvPr/>
        </p:nvSpPr>
        <p:spPr>
          <a:xfrm>
            <a:off x="5108972" y="5736486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45" name="Rounded Rectangle"/>
          <p:cNvSpPr/>
          <p:nvPr/>
        </p:nvSpPr>
        <p:spPr>
          <a:xfrm>
            <a:off x="4463125" y="5701590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46" name="Text: -"/>
          <p:cNvSpPr txBox="1"/>
          <p:nvPr/>
        </p:nvSpPr>
        <p:spPr>
          <a:xfrm>
            <a:off x="4691211" y="5736486"/>
            <a:ext cx="5804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47" name="Text: ا ن ق ر ي ع ل ى ا ل ط ا و ل ة م ع ك ل ن "/>
          <p:cNvSpPr txBox="1"/>
          <p:nvPr/>
        </p:nvSpPr>
        <p:spPr>
          <a:xfrm>
            <a:off x="1344563" y="5636106"/>
            <a:ext cx="2274937" cy="585439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ى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ض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:</a:t>
            </a:r>
            <a:endParaRPr lang="en-US" sz="1400" dirty="0"/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«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ٮ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»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«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-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»</a:t>
            </a:r>
            <a:br>
              <a:rPr lang="en-US" sz="1400"/>
            </a:br>
            <a:r>
              <a:rPr lang="en-US" sz="1400" spc="-4" dirty="0">
                <a:solidFill>
                  <a:srgbClr val="FBF5E6">
                    <a:alpha val="90000"/>
                  </a:srgbClr>
                </a:solidFill>
                <a:latin typeface="Tajawal"/>
                <a:ea typeface="Tajawal"/>
                <a:cs typeface="Tajawal"/>
              </a:rPr>
              <a:t>.</a:t>
            </a:r>
            <a:endParaRPr lang="en-US" sz="1400" dirty="0"/>
          </a:p>
        </p:txBody>
      </p:sp>
      <p:sp>
        <p:nvSpPr>
          <p:cNvPr id="48" name="Text: أساسيات في علم العروض · أ. أسماء الحارثي"/>
          <p:cNvSpPr txBox="1"/>
          <p:nvPr/>
        </p:nvSpPr>
        <p:spPr>
          <a:xfrm>
            <a:off x="8909844" y="6499381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49" name="Text: ١ / ١٤"/>
          <p:cNvSpPr txBox="1"/>
          <p:nvPr/>
        </p:nvSpPr>
        <p:spPr>
          <a:xfrm>
            <a:off x="698500" y="6716628"/>
            <a:ext cx="244822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قبل أن نبدأ"/>
          <p:cNvSpPr txBox="1"/>
          <p:nvPr/>
        </p:nvSpPr>
        <p:spPr>
          <a:xfrm>
            <a:off x="10538916" y="316754"/>
            <a:ext cx="78953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قبل أن نبدأ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أهداف الدرس"/>
          <p:cNvSpPr txBox="1"/>
          <p:nvPr/>
        </p:nvSpPr>
        <p:spPr>
          <a:xfrm>
            <a:off x="9676557" y="679205"/>
            <a:ext cx="1816943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أهداف الدرس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5981748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5981748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6083300"/>
            <a:ext cx="196850" cy="24130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العروض ليس حفظًا فقط؛ إنه أذنٌ ت"/>
          <p:cNvSpPr txBox="1"/>
          <p:nvPr/>
        </p:nvSpPr>
        <p:spPr>
          <a:xfrm>
            <a:off x="5968157" y="6327331"/>
            <a:ext cx="5044728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العروض ليس حفظًا فقط؛ إنه أذنٌ تسمع، وإصبعٌ ينقر الإيقاع.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743" y="1135132"/>
            <a:ext cx="8289438" cy="4916332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4"/>
            <a:ext cx="19002" cy="4648368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92472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341216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489966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في نهاية الدرس ستكونين قادرة على أن:"/>
          <p:cNvSpPr txBox="1"/>
          <p:nvPr/>
        </p:nvSpPr>
        <p:spPr>
          <a:xfrm>
            <a:off x="6068764" y="1358780"/>
            <a:ext cx="4764385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في نهاية الدرس ستكونين قادرة على أن:</a:t>
            </a:r>
            <a:endParaRPr lang="en-US" sz="2200" dirty="0"/>
          </a:p>
        </p:txBody>
      </p:sp>
      <p:sp>
        <p:nvSpPr>
          <p:cNvPr id="16" name="Text: تتعرّفي الخليلَ بن أحمد، واضعَ علم العرو"/>
          <p:cNvSpPr txBox="1"/>
          <p:nvPr/>
        </p:nvSpPr>
        <p:spPr>
          <a:xfrm>
            <a:off x="5737126" y="1956858"/>
            <a:ext cx="4930924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تتعرّفي الخليلَ بن أحمد، واضعَ علم العروض.</a:t>
            </a:r>
            <a:endParaRPr lang="en-US" sz="2200" dirty="0"/>
          </a:p>
        </p:txBody>
      </p:sp>
      <p:sp>
        <p:nvSpPr>
          <p:cNvPr id="17" name="Rounded Rectangle"/>
          <p:cNvSpPr/>
          <p:nvPr/>
        </p:nvSpPr>
        <p:spPr>
          <a:xfrm rot="2700000">
            <a:off x="10774910" y="2368401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18" name="Text: تعرّفي علم العروض وتبيّني فائدته."/>
          <p:cNvSpPr txBox="1"/>
          <p:nvPr/>
        </p:nvSpPr>
        <p:spPr>
          <a:xfrm>
            <a:off x="6874718" y="2566482"/>
            <a:ext cx="3793331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تعرّفي علم العروض وتبيّني فائدته.</a:t>
            </a:r>
            <a:endParaRPr lang="en-US" sz="2200" dirty="0"/>
          </a:p>
        </p:txBody>
      </p:sp>
      <p:sp>
        <p:nvSpPr>
          <p:cNvPr id="19" name="Rounded Rectangle"/>
          <p:cNvSpPr/>
          <p:nvPr/>
        </p:nvSpPr>
        <p:spPr>
          <a:xfrm rot="2700000">
            <a:off x="10774910" y="2978025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0" name="Text: تحدّدي أجزاء البيت الشعري والروي."/>
          <p:cNvSpPr txBox="1"/>
          <p:nvPr/>
        </p:nvSpPr>
        <p:spPr>
          <a:xfrm>
            <a:off x="6754564" y="3176106"/>
            <a:ext cx="3913485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تحدّدي أجزاء البيت الشعري والروي.</a:t>
            </a:r>
            <a:endParaRPr lang="en-US" sz="2200" dirty="0"/>
          </a:p>
        </p:txBody>
      </p:sp>
      <p:sp>
        <p:nvSpPr>
          <p:cNvPr id="21" name="Rounded Rectangle"/>
          <p:cNvSpPr/>
          <p:nvPr/>
        </p:nvSpPr>
        <p:spPr>
          <a:xfrm rot="2700000">
            <a:off x="10774910" y="3587649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2" name="Text: تتعرّفي البحور والتفعيلات، وتكتبي الكلما"/>
          <p:cNvSpPr txBox="1"/>
          <p:nvPr/>
        </p:nvSpPr>
        <p:spPr>
          <a:xfrm>
            <a:off x="4349651" y="3785730"/>
            <a:ext cx="6318399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تتعرّفي البحور والتفعيلات، وتكتبي الكلمات كتابة عروضية.</a:t>
            </a:r>
            <a:endParaRPr lang="en-US" sz="2200" dirty="0"/>
          </a:p>
        </p:txBody>
      </p:sp>
      <p:sp>
        <p:nvSpPr>
          <p:cNvPr id="23" name="Rounded Rectangle"/>
          <p:cNvSpPr/>
          <p:nvPr/>
        </p:nvSpPr>
        <p:spPr>
          <a:xfrm rot="2700000">
            <a:off x="10774910" y="4197273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pic>
        <p:nvPicPr>
          <p:cNvPr id="24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61150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25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3876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26" name="Text: أساسيات في علم العروض · أ. أسماء الحارثي"/>
          <p:cNvSpPr txBox="1"/>
          <p:nvPr/>
        </p:nvSpPr>
        <p:spPr>
          <a:xfrm>
            <a:off x="8909844" y="6499381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27" name="Text: ٢ / ١٤"/>
          <p:cNvSpPr txBox="1"/>
          <p:nvPr/>
        </p:nvSpPr>
        <p:spPr>
          <a:xfrm>
            <a:off x="698500" y="6716628"/>
            <a:ext cx="265658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٢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Ellipse"/>
          <p:cNvSpPr/>
          <p:nvPr/>
        </p:nvSpPr>
        <p:spPr>
          <a:xfrm>
            <a:off x="10848544" y="383646"/>
            <a:ext cx="629588" cy="629588"/>
          </a:xfrm>
          <a:prstGeom prst="ellipse">
            <a:avLst/>
          </a:prstGeom>
          <a:noFill/>
          <a:ln w="30788" cap="flat" cmpd="sng" algn="ctr">
            <a:solidFill>
              <a:srgbClr val="D99A1E"/>
            </a:solidFill>
            <a:miter lim="800000"/>
          </a:ln>
          <a:effectLst>
            <a:outerShdw blurRad="101600" dist="38100" dir="5400000" sx="100000" sy="100000" algn="ctr" rotWithShape="0">
              <a:srgbClr val="24305E">
                <a:alpha val="18000"/>
              </a:srgbClr>
            </a:outerShdw>
          </a:effectLst>
        </p:spPr>
      </p:sp>
      <p:pic>
        <p:nvPicPr>
          <p:cNvPr id="4" name="Image: الخليل"/>
          <p:cNvPicPr>
            <a:picLocks noChangeAspect="1"/>
          </p:cNvPicPr>
          <p:nvPr/>
        </p:nvPicPr>
        <p:blipFill>
          <a:blip r:embed="rId3"/>
          <a:srcRect l="0" t="9990" r="0" b="23311"/>
          <a:stretch>
            <a:fillRect/>
          </a:stretch>
        </p:blipFill>
        <p:spPr>
          <a:xfrm>
            <a:off x="10863937" y="399040"/>
            <a:ext cx="598800" cy="598800"/>
          </a:xfrm>
          <a:prstGeom prst="ellipse">
            <a:avLst/>
          </a:prstGeom>
          <a:ln>
            <a:noFill/>
          </a:ln>
        </p:spPr>
      </p:pic>
      <p:sp>
        <p:nvSpPr>
          <p:cNvPr id="5" name="Text: الشخصية"/>
          <p:cNvSpPr txBox="1"/>
          <p:nvPr/>
        </p:nvSpPr>
        <p:spPr>
          <a:xfrm>
            <a:off x="9790361" y="316754"/>
            <a:ext cx="725339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الشخصية</a:t>
            </a:r>
            <a:endParaRPr lang="en-US" sz="1300" dirty="0"/>
          </a:p>
        </p:txBody>
      </p:sp>
      <p:sp>
        <p:nvSpPr>
          <p:cNvPr id="6" name="Ellipse"/>
          <p:cNvSpPr/>
          <p:nvPr/>
        </p:nvSpPr>
        <p:spPr>
          <a:xfrm>
            <a:off x="10591899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7" name="Text: من هو الخليل؟"/>
          <p:cNvSpPr txBox="1"/>
          <p:nvPr/>
        </p:nvSpPr>
        <p:spPr>
          <a:xfrm>
            <a:off x="8953252" y="679205"/>
            <a:ext cx="1727498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من هو الخليل؟</a:t>
            </a:r>
            <a:endParaRPr lang="en-US" sz="3400" dirty="0"/>
          </a:p>
        </p:txBody>
      </p:sp>
      <p:sp>
        <p:nvSpPr>
          <p:cNvPr id="8" name="Rounded Rectangle"/>
          <p:cNvSpPr/>
          <p:nvPr/>
        </p:nvSpPr>
        <p:spPr>
          <a:xfrm>
            <a:off x="5448250" y="5981748"/>
            <a:ext cx="6045248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9" name="Border"/>
          <p:cNvSpPr/>
          <p:nvPr/>
        </p:nvSpPr>
        <p:spPr>
          <a:xfrm>
            <a:off x="11431922" y="5981748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10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800" y="6083300"/>
            <a:ext cx="196850" cy="241300"/>
          </a:xfrm>
          <a:prstGeom prst="rect">
            <a:avLst/>
          </a:prstGeom>
          <a:ln>
            <a:noFill/>
          </a:ln>
        </p:spPr>
      </p:pic>
      <p:sp>
        <p:nvSpPr>
          <p:cNvPr id="11" name="Text: ملاحظة: الخليل عُمانيّ الأصل، ونحن نفخر "/>
          <p:cNvSpPr txBox="1"/>
          <p:nvPr/>
        </p:nvSpPr>
        <p:spPr>
          <a:xfrm>
            <a:off x="7843887" y="6327330"/>
            <a:ext cx="3168997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الخليل عُمانيّ الأصل، ونحن نفخر به!</a:t>
            </a:r>
            <a:endParaRPr lang="en-US" sz="1400" dirty="0"/>
          </a:p>
        </p:txBody>
      </p:sp>
      <p:pic>
        <p:nvPicPr>
          <p:cNvPr id="12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325" y="1134386"/>
            <a:ext cx="6310827" cy="4913405"/>
          </a:xfrm>
          <a:prstGeom prst="rect">
            <a:avLst/>
          </a:prstGeom>
          <a:ln>
            <a:noFill/>
          </a:ln>
        </p:spPr>
      </p:pic>
      <p:sp>
        <p:nvSpPr>
          <p:cNvPr id="13" name="Rectangle"/>
          <p:cNvSpPr/>
          <p:nvPr/>
        </p:nvSpPr>
        <p:spPr>
          <a:xfrm>
            <a:off x="10991949" y="1181004"/>
            <a:ext cx="19002" cy="4648368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4" name="Ellipse"/>
          <p:cNvSpPr/>
          <p:nvPr/>
        </p:nvSpPr>
        <p:spPr>
          <a:xfrm>
            <a:off x="11163399" y="192472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11163399" y="341216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11163399" y="489966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7" name="Text: اسمه: الخليل بن أحمد الفراهيدي الأزدي."/>
          <p:cNvSpPr txBox="1"/>
          <p:nvPr/>
        </p:nvSpPr>
        <p:spPr>
          <a:xfrm>
            <a:off x="6419602" y="1933744"/>
            <a:ext cx="4248448" cy="21744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اسمه:</a:t>
            </a:r>
            <a:br>
              <a:rPr lang="en-US" sz="2000"/>
            </a:br>
            <a:r>
              <a:rPr lang="en-US" sz="20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الخليل بن أحمد الفراهيدي</a:t>
            </a:r>
            <a:endParaRPr lang="en-US" sz="20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الأزدي.</a:t>
            </a:r>
            <a:endParaRPr lang="en-US" sz="2000" dirty="0"/>
          </a:p>
        </p:txBody>
      </p:sp>
      <p:sp>
        <p:nvSpPr>
          <p:cNvPr id="18" name="Rounded Rectangle"/>
          <p:cNvSpPr/>
          <p:nvPr/>
        </p:nvSpPr>
        <p:spPr>
          <a:xfrm rot="2700000">
            <a:off x="10774910" y="1751080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19" name="Text: وُ ل د ف ي عُ م ا ن ن ح و س ن ة ١٠٠ ه ـ "/>
          <p:cNvSpPr txBox="1"/>
          <p:nvPr/>
        </p:nvSpPr>
        <p:spPr>
          <a:xfrm>
            <a:off x="6028879" y="2855816"/>
            <a:ext cx="4639171" cy="254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وُ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عُ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١٠٠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ـ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000"/>
            </a:b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2000"/>
            </a:b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.</a:t>
            </a:r>
            <a:endParaRPr lang="en-US" sz="2000" dirty="0"/>
          </a:p>
        </p:txBody>
      </p:sp>
      <p:sp>
        <p:nvSpPr>
          <p:cNvPr id="20" name="Rounded Rectangle"/>
          <p:cNvSpPr/>
          <p:nvPr/>
        </p:nvSpPr>
        <p:spPr>
          <a:xfrm rot="2700000">
            <a:off x="10774910" y="2665456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1" name="Text: عالمٌ باللغة والنحو والموسيقى."/>
          <p:cNvSpPr txBox="1"/>
          <p:nvPr/>
        </p:nvSpPr>
        <p:spPr>
          <a:xfrm>
            <a:off x="7525048" y="3160593"/>
            <a:ext cx="3143002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عالمٌ باللغة والنحو والموسيقى.</a:t>
            </a:r>
            <a:endParaRPr lang="en-US" sz="2000" dirty="0"/>
          </a:p>
        </p:txBody>
      </p:sp>
      <p:sp>
        <p:nvSpPr>
          <p:cNvPr id="22" name="Rounded Rectangle"/>
          <p:cNvSpPr/>
          <p:nvPr/>
        </p:nvSpPr>
        <p:spPr>
          <a:xfrm rot="2700000">
            <a:off x="10774910" y="3579832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3" name="Text: وضع علم العروض ، وألّف معجم «العين» ."/>
          <p:cNvSpPr txBox="1"/>
          <p:nvPr/>
        </p:nvSpPr>
        <p:spPr>
          <a:xfrm>
            <a:off x="6251327" y="4676871"/>
            <a:ext cx="4416723" cy="35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وضع</a:t>
            </a:r>
            <a:br>
              <a:rPr lang="en-US" sz="2000"/>
            </a:br>
            <a:r>
              <a:rPr lang="en-US" sz="20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علم العروض</a:t>
            </a:r>
            <a:endParaRPr lang="en-US" sz="20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 وألّف معجم</a:t>
            </a:r>
            <a:endParaRPr lang="en-US" sz="2000" dirty="0"/>
          </a:p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«العين»</a:t>
            </a:r>
            <a:endParaRPr lang="en-US" sz="20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.</a:t>
            </a:r>
            <a:endParaRPr lang="en-US" sz="2000" dirty="0"/>
          </a:p>
        </p:txBody>
      </p:sp>
      <p:sp>
        <p:nvSpPr>
          <p:cNvPr id="24" name="Rounded Rectangle"/>
          <p:cNvSpPr/>
          <p:nvPr/>
        </p:nvSpPr>
        <p:spPr>
          <a:xfrm rot="2700000">
            <a:off x="10774910" y="4494207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5" name="Rounded Rectangle"/>
          <p:cNvSpPr/>
          <p:nvPr/>
        </p:nvSpPr>
        <p:spPr>
          <a:xfrm rot="120000">
            <a:off x="698500" y="1320693"/>
            <a:ext cx="4572000" cy="2927254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>
            <a:noFill/>
          </a:ln>
          <a:effectLst>
            <a:outerShdw blurRad="228600" dist="114300" dir="5400000" sx="100000" sy="100000" algn="ctr" rotWithShape="0">
              <a:srgbClr val="2A2233">
                <a:alpha val="22000"/>
              </a:srgbClr>
            </a:outerShdw>
          </a:effectLst>
        </p:spPr>
      </p:sp>
      <p:pic>
        <p:nvPicPr>
          <p:cNvPr id="26" name="Image: من قرى عُمان إلى حلقات العلم في البص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804852" y="1422339"/>
            <a:ext cx="4368752" cy="2457438"/>
          </a:xfrm>
          <a:prstGeom prst="roundRect">
            <a:avLst>
              <a:gd name="adj" fmla="val 1034"/>
            </a:avLst>
          </a:prstGeom>
          <a:ln>
            <a:noFill/>
          </a:ln>
        </p:spPr>
      </p:pic>
      <p:sp>
        <p:nvSpPr>
          <p:cNvPr id="27" name="Text: من قرى عُمان إلى حلقات العلم في البصرة"/>
          <p:cNvSpPr txBox="1"/>
          <p:nvPr/>
        </p:nvSpPr>
        <p:spPr>
          <a:xfrm rot="120000">
            <a:off x="1763865" y="3917378"/>
            <a:ext cx="2352328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من قرى عُمان إلى حلقات العلم في البصرة</a:t>
            </a:r>
            <a:endParaRPr lang="en-US" sz="1400" dirty="0"/>
          </a:p>
        </p:txBody>
      </p:sp>
      <p:sp>
        <p:nvSpPr>
          <p:cNvPr id="28" name="Rectangle"/>
          <p:cNvSpPr/>
          <p:nvPr/>
        </p:nvSpPr>
        <p:spPr>
          <a:xfrm rot="300000">
            <a:off x="2590857" y="1220016"/>
            <a:ext cx="889000" cy="215876"/>
          </a:xfrm>
          <a:prstGeom prst="rect">
            <a:avLst/>
          </a:prstGeom>
          <a:solidFill>
            <a:srgbClr val="D99A1E">
              <a:alpha val="55000"/>
            </a:srgbClr>
          </a:solidFill>
          <a:ln>
            <a:noFill/>
          </a:ln>
        </p:spPr>
      </p:sp>
      <p:sp>
        <p:nvSpPr>
          <p:cNvPr id="29" name="Text: أساسيات في علم العروض · أ. أسماء الحارثي"/>
          <p:cNvSpPr txBox="1"/>
          <p:nvPr/>
        </p:nvSpPr>
        <p:spPr>
          <a:xfrm>
            <a:off x="8909844" y="6499382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30" name="Text: ٣ / ١٤"/>
          <p:cNvSpPr txBox="1"/>
          <p:nvPr/>
        </p:nvSpPr>
        <p:spPr>
          <a:xfrm>
            <a:off x="698500" y="6716629"/>
            <a:ext cx="293439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٣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Ellipse"/>
          <p:cNvSpPr/>
          <p:nvPr/>
        </p:nvSpPr>
        <p:spPr>
          <a:xfrm>
            <a:off x="10848544" y="383646"/>
            <a:ext cx="629588" cy="629588"/>
          </a:xfrm>
          <a:prstGeom prst="ellipse">
            <a:avLst/>
          </a:prstGeom>
          <a:noFill/>
          <a:ln w="30788" cap="flat" cmpd="sng" algn="ctr">
            <a:solidFill>
              <a:srgbClr val="D99A1E"/>
            </a:solidFill>
            <a:miter lim="800000"/>
          </a:ln>
          <a:effectLst>
            <a:outerShdw blurRad="101600" dist="38100" dir="5400000" sx="100000" sy="100000" algn="ctr" rotWithShape="0">
              <a:srgbClr val="24305E">
                <a:alpha val="18000"/>
              </a:srgbClr>
            </a:outerShdw>
          </a:effectLst>
        </p:spPr>
      </p:sp>
      <p:pic>
        <p:nvPicPr>
          <p:cNvPr id="4" name="Image: الخليل"/>
          <p:cNvPicPr>
            <a:picLocks noChangeAspect="1"/>
          </p:cNvPicPr>
          <p:nvPr/>
        </p:nvPicPr>
        <p:blipFill>
          <a:blip r:embed="rId3"/>
          <a:srcRect l="0" t="9990" r="0" b="23311"/>
          <a:stretch>
            <a:fillRect/>
          </a:stretch>
        </p:blipFill>
        <p:spPr>
          <a:xfrm>
            <a:off x="10863937" y="399040"/>
            <a:ext cx="598800" cy="598800"/>
          </a:xfrm>
          <a:prstGeom prst="ellipse">
            <a:avLst/>
          </a:prstGeom>
          <a:ln>
            <a:noFill/>
          </a:ln>
        </p:spPr>
      </p:pic>
      <p:sp>
        <p:nvSpPr>
          <p:cNvPr id="5" name="Text: الحكاية"/>
          <p:cNvSpPr txBox="1"/>
          <p:nvPr/>
        </p:nvSpPr>
        <p:spPr>
          <a:xfrm>
            <a:off x="10002341" y="316754"/>
            <a:ext cx="51335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الحكاية</a:t>
            </a:r>
            <a:endParaRPr lang="en-US" sz="1300" dirty="0"/>
          </a:p>
        </p:txBody>
      </p:sp>
      <p:sp>
        <p:nvSpPr>
          <p:cNvPr id="6" name="Ellipse"/>
          <p:cNvSpPr/>
          <p:nvPr/>
        </p:nvSpPr>
        <p:spPr>
          <a:xfrm>
            <a:off x="10591899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7" name="Text: في سوق الصفّارين"/>
          <p:cNvSpPr txBox="1"/>
          <p:nvPr/>
        </p:nvSpPr>
        <p:spPr>
          <a:xfrm>
            <a:off x="8432056" y="679205"/>
            <a:ext cx="2248694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في سوق الصفّارين</a:t>
            </a:r>
            <a:endParaRPr lang="en-US" sz="3400" dirty="0"/>
          </a:p>
        </p:txBody>
      </p:sp>
      <p:sp>
        <p:nvSpPr>
          <p:cNvPr id="8" name="Rounded Rectangle"/>
          <p:cNvSpPr/>
          <p:nvPr/>
        </p:nvSpPr>
        <p:spPr>
          <a:xfrm>
            <a:off x="698500" y="3924312"/>
            <a:ext cx="6045248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9" name="Border"/>
          <p:cNvSpPr/>
          <p:nvPr/>
        </p:nvSpPr>
        <p:spPr>
          <a:xfrm>
            <a:off x="6682172" y="3924312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10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0195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11" name="Text: ملاحظة: الشعر العربي إيقاعٌ قبل أن يكون "/>
          <p:cNvSpPr txBox="1"/>
          <p:nvPr/>
        </p:nvSpPr>
        <p:spPr>
          <a:xfrm>
            <a:off x="2735312" y="4269894"/>
            <a:ext cx="3527822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الشعر العربي إيقاعٌ قبل أن يكون كلمات.</a:t>
            </a:r>
            <a:endParaRPr lang="en-US" sz="1400" dirty="0"/>
          </a:p>
        </p:txBody>
      </p:sp>
      <p:pic>
        <p:nvPicPr>
          <p:cNvPr id="12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50" y="1136650"/>
            <a:ext cx="6311900" cy="2908300"/>
          </a:xfrm>
          <a:prstGeom prst="rect">
            <a:avLst/>
          </a:prstGeom>
          <a:ln>
            <a:noFill/>
          </a:ln>
        </p:spPr>
      </p:pic>
      <p:sp>
        <p:nvSpPr>
          <p:cNvPr id="13" name="Rectangle"/>
          <p:cNvSpPr/>
          <p:nvPr/>
        </p:nvSpPr>
        <p:spPr>
          <a:xfrm>
            <a:off x="6242199" y="1181004"/>
            <a:ext cx="19002" cy="2641744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4" name="Ellipse"/>
          <p:cNvSpPr/>
          <p:nvPr/>
        </p:nvSpPr>
        <p:spPr>
          <a:xfrm>
            <a:off x="6413649" y="1603676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6413649" y="2449020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6413649" y="329436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7" name="Text: م رّ ا ل خ ل ي ل ب س و ق ا ل ص فّ ا ر ي "/>
          <p:cNvSpPr txBox="1"/>
          <p:nvPr/>
        </p:nvSpPr>
        <p:spPr>
          <a:xfrm>
            <a:off x="1125736" y="1592791"/>
            <a:ext cx="4957663" cy="6921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رّ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فّ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طَ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رْ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ى</a:t>
            </a:r>
            <a:endParaRPr lang="en-US" sz="1500" dirty="0"/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5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:</a:t>
            </a:r>
            <a:endParaRPr lang="en-US" sz="1500" dirty="0"/>
          </a:p>
        </p:txBody>
      </p:sp>
      <p:sp>
        <p:nvSpPr>
          <p:cNvPr id="18" name="Text: - ٮ - … - ٮ -"/>
          <p:cNvSpPr txBox="1"/>
          <p:nvPr/>
        </p:nvSpPr>
        <p:spPr>
          <a:xfrm>
            <a:off x="4751636" y="1966888"/>
            <a:ext cx="133176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pc="-4" dirty="0">
                <a:solidFill>
                  <a:srgbClr val="B4532A"/>
                </a:solidFill>
                <a:latin typeface="Amiri"/>
                <a:ea typeface="Amiri"/>
                <a:cs typeface="Amiri"/>
              </a:rPr>
              <a:t>- ٮ - … - ٮ -</a:t>
            </a:r>
            <a:endParaRPr lang="en-US" sz="1800" dirty="0"/>
          </a:p>
        </p:txBody>
      </p:sp>
      <p:sp>
        <p:nvSpPr>
          <p:cNvPr id="19" name="Text: ف ل ا ح ظ أ نّ ا ل إ ي ق ا ع م ن ت ظ م ك"/>
          <p:cNvSpPr txBox="1"/>
          <p:nvPr/>
        </p:nvSpPr>
        <p:spPr>
          <a:xfrm>
            <a:off x="1294160" y="2507228"/>
            <a:ext cx="4789239" cy="8191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ظ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نّ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إ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ظ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بّ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ى</a:t>
            </a:r>
            <a:endParaRPr lang="en-US" sz="1500" dirty="0"/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ج</a:t>
            </a:r>
            <a:endParaRPr lang="en-US" sz="15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مٍ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500" dirty="0"/>
          </a:p>
        </p:txBody>
      </p:sp>
      <p:sp>
        <p:nvSpPr>
          <p:cNvPr id="20" name="Rounded Rectangle"/>
          <p:cNvSpPr/>
          <p:nvPr/>
        </p:nvSpPr>
        <p:spPr>
          <a:xfrm rot="21480000">
            <a:off x="6921500" y="1320691"/>
            <a:ext cx="4572000" cy="2927254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>
            <a:noFill/>
          </a:ln>
          <a:effectLst>
            <a:outerShdw blurRad="228600" dist="114300" dir="5400000" sx="100000" sy="100000" algn="ctr" rotWithShape="0">
              <a:srgbClr val="2A2233">
                <a:alpha val="22000"/>
              </a:srgbClr>
            </a:outerShdw>
          </a:effectLst>
        </p:spPr>
      </p:sp>
      <p:pic>
        <p:nvPicPr>
          <p:cNvPr id="21" name="Image: الخليل يُصغي إلى المطارق في سوق البصرة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80000">
            <a:off x="7018545" y="1422334"/>
            <a:ext cx="4368752" cy="2457438"/>
          </a:xfrm>
          <a:prstGeom prst="roundRect">
            <a:avLst>
              <a:gd name="adj" fmla="val 1034"/>
            </a:avLst>
          </a:prstGeom>
          <a:ln>
            <a:noFill/>
          </a:ln>
        </p:spPr>
      </p:pic>
      <p:sp>
        <p:nvSpPr>
          <p:cNvPr id="22" name="Text: الخليل يُصغي إلى المطارق في سوق البصرة"/>
          <p:cNvSpPr txBox="1"/>
          <p:nvPr/>
        </p:nvSpPr>
        <p:spPr>
          <a:xfrm rot="21480000">
            <a:off x="8077146" y="3917379"/>
            <a:ext cx="2349600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الخليل يُصغي إلى المطارق في سوق البصرة</a:t>
            </a:r>
            <a:endParaRPr lang="en-US" sz="1400" dirty="0"/>
          </a:p>
        </p:txBody>
      </p:sp>
      <p:sp>
        <p:nvSpPr>
          <p:cNvPr id="23" name="Rectangle"/>
          <p:cNvSpPr/>
          <p:nvPr/>
        </p:nvSpPr>
        <p:spPr>
          <a:xfrm rot="60000">
            <a:off x="8712142" y="1220015"/>
            <a:ext cx="889000" cy="215876"/>
          </a:xfrm>
          <a:prstGeom prst="rect">
            <a:avLst/>
          </a:prstGeom>
          <a:solidFill>
            <a:srgbClr val="D99A1E">
              <a:alpha val="55000"/>
            </a:srgbClr>
          </a:solidFill>
          <a:ln>
            <a:noFill/>
          </a:ln>
        </p:spPr>
      </p:sp>
      <p:sp>
        <p:nvSpPr>
          <p:cNvPr id="24" name="Rounded Rectangle"/>
          <p:cNvSpPr/>
          <p:nvPr/>
        </p:nvSpPr>
        <p:spPr>
          <a:xfrm>
            <a:off x="698500" y="4495752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25" name="Rounded Rectangle"/>
          <p:cNvSpPr/>
          <p:nvPr/>
        </p:nvSpPr>
        <p:spPr>
          <a:xfrm>
            <a:off x="10101808" y="4635440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6" name="Text: نشاط تفاعلي"/>
          <p:cNvSpPr txBox="1"/>
          <p:nvPr/>
        </p:nvSpPr>
        <p:spPr>
          <a:xfrm>
            <a:off x="10216059" y="4668115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27" name="Text: اسمعي طرق المطرقة: - ٮ - … ثم قلّديه"/>
          <p:cNvSpPr txBox="1"/>
          <p:nvPr/>
        </p:nvSpPr>
        <p:spPr>
          <a:xfrm>
            <a:off x="6791375" y="4640070"/>
            <a:ext cx="3196183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اسمعي طرق المطرقة: - ٮ - … ثم قلّديه</a:t>
            </a:r>
            <a:endParaRPr lang="en-US" sz="1500" dirty="0"/>
          </a:p>
        </p:txBody>
      </p:sp>
      <p:sp>
        <p:nvSpPr>
          <p:cNvPr id="28" name="Rounded Rectangle"/>
          <p:cNvSpPr/>
          <p:nvPr/>
        </p:nvSpPr>
        <p:spPr>
          <a:xfrm>
            <a:off x="9435207" y="5241816"/>
            <a:ext cx="1804278" cy="419064"/>
          </a:xfrm>
          <a:prstGeom prst="roundRect">
            <a:avLst>
              <a:gd name="adj" fmla="val 24245"/>
            </a:avLst>
          </a:prstGeom>
          <a:solidFill>
            <a:srgbClr val="D99A1E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29" name="Text: ▶ اسمعي المطرقة"/>
          <p:cNvSpPr txBox="1"/>
          <p:nvPr/>
        </p:nvSpPr>
        <p:spPr>
          <a:xfrm>
            <a:off x="9587607" y="5313001"/>
            <a:ext cx="1499543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▶ اسمعي المطرقة</a:t>
            </a:r>
            <a:endParaRPr lang="en-US" sz="1400" dirty="0"/>
          </a:p>
        </p:txBody>
      </p:sp>
      <p:sp>
        <p:nvSpPr>
          <p:cNvPr id="30" name="Rounded Rectangle"/>
          <p:cNvSpPr/>
          <p:nvPr/>
        </p:nvSpPr>
        <p:spPr>
          <a:xfrm>
            <a:off x="10719562" y="5755529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1" name="Text: -"/>
          <p:cNvSpPr txBox="1"/>
          <p:nvPr/>
        </p:nvSpPr>
        <p:spPr>
          <a:xfrm>
            <a:off x="10947598" y="5790425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2" name="Ellipse"/>
          <p:cNvSpPr/>
          <p:nvPr/>
        </p:nvSpPr>
        <p:spPr>
          <a:xfrm>
            <a:off x="10376662" y="5755529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3" name="Text: ٮ"/>
          <p:cNvSpPr txBox="1"/>
          <p:nvPr/>
        </p:nvSpPr>
        <p:spPr>
          <a:xfrm>
            <a:off x="10439698" y="5790425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34" name="Rounded Rectangle"/>
          <p:cNvSpPr/>
          <p:nvPr/>
        </p:nvSpPr>
        <p:spPr>
          <a:xfrm>
            <a:off x="9793802" y="5755529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5" name="Text: -"/>
          <p:cNvSpPr txBox="1"/>
          <p:nvPr/>
        </p:nvSpPr>
        <p:spPr>
          <a:xfrm>
            <a:off x="10021888" y="5790425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6" name="Rounded Rectangle"/>
          <p:cNvSpPr/>
          <p:nvPr/>
        </p:nvSpPr>
        <p:spPr>
          <a:xfrm>
            <a:off x="9210941" y="5755529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7" name="Text: -"/>
          <p:cNvSpPr txBox="1"/>
          <p:nvPr/>
        </p:nvSpPr>
        <p:spPr>
          <a:xfrm>
            <a:off x="9439027" y="5790425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38" name="Ellipse"/>
          <p:cNvSpPr/>
          <p:nvPr/>
        </p:nvSpPr>
        <p:spPr>
          <a:xfrm>
            <a:off x="8868041" y="5755529"/>
            <a:ext cx="274205" cy="274205"/>
          </a:xfrm>
          <a:prstGeom prst="ellipse">
            <a:avLst/>
          </a:prstGeom>
          <a:solidFill>
            <a:srgbClr val="FBF5E6">
              <a:alpha val="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39" name="Text: ٮ"/>
          <p:cNvSpPr txBox="1"/>
          <p:nvPr/>
        </p:nvSpPr>
        <p:spPr>
          <a:xfrm>
            <a:off x="8931077" y="5790425"/>
            <a:ext cx="14823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ٮ</a:t>
            </a:r>
            <a:endParaRPr lang="en-US" sz="1260" dirty="0"/>
          </a:p>
        </p:txBody>
      </p:sp>
      <p:sp>
        <p:nvSpPr>
          <p:cNvPr id="40" name="Rounded Rectangle"/>
          <p:cNvSpPr/>
          <p:nvPr/>
        </p:nvSpPr>
        <p:spPr>
          <a:xfrm>
            <a:off x="8285181" y="5755529"/>
            <a:ext cx="514194" cy="274205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 w="11545" cap="flat" cmpd="sng" algn="ctr">
            <a:solidFill>
              <a:srgbClr val="FBF5E6">
                <a:alpha val="35000"/>
              </a:srgbClr>
            </a:solidFill>
            <a:miter lim="800000"/>
          </a:ln>
        </p:spPr>
      </p:sp>
      <p:sp>
        <p:nvSpPr>
          <p:cNvPr id="41" name="Text: -"/>
          <p:cNvSpPr txBox="1"/>
          <p:nvPr/>
        </p:nvSpPr>
        <p:spPr>
          <a:xfrm>
            <a:off x="8513266" y="5790425"/>
            <a:ext cx="58093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-</a:t>
            </a:r>
            <a:endParaRPr lang="en-US" sz="1260" dirty="0"/>
          </a:p>
        </p:txBody>
      </p:sp>
      <p:sp>
        <p:nvSpPr>
          <p:cNvPr id="42" name="Rectangle"/>
          <p:cNvSpPr/>
          <p:nvPr/>
        </p:nvSpPr>
        <p:spPr>
          <a:xfrm>
            <a:off x="8114357" y="5041695"/>
            <a:ext cx="12688" cy="1193992"/>
          </a:xfrm>
          <a:prstGeom prst="rect">
            <a:avLst/>
          </a:prstGeom>
          <a:solidFill>
            <a:srgbClr val="FBF5E6">
              <a:alpha val="20000"/>
            </a:srgbClr>
          </a:solidFill>
          <a:ln>
            <a:noFill/>
          </a:ln>
        </p:spPr>
      </p:sp>
      <p:sp>
        <p:nvSpPr>
          <p:cNvPr id="43" name="Text: دورك! اضغطي الطبلة ست مرات بالإيقاع نفسه"/>
          <p:cNvSpPr txBox="1"/>
          <p:nvPr/>
        </p:nvSpPr>
        <p:spPr>
          <a:xfrm>
            <a:off x="4531816" y="5216427"/>
            <a:ext cx="343014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دورك! اضغطي الطبلة ست مرات بالإيقاع نفسه:</a:t>
            </a:r>
            <a:endParaRPr lang="en-US" sz="1400" dirty="0"/>
          </a:p>
        </p:txBody>
      </p:sp>
      <p:sp>
        <p:nvSpPr>
          <p:cNvPr id="44" name="Rounded Rectangle"/>
          <p:cNvSpPr/>
          <p:nvPr/>
        </p:nvSpPr>
        <p:spPr>
          <a:xfrm>
            <a:off x="6936135" y="5584693"/>
            <a:ext cx="1025862" cy="463502"/>
          </a:xfrm>
          <a:prstGeom prst="roundRect">
            <a:avLst>
              <a:gd name="adj" fmla="val 21920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5" name="Text: 🥁 طُم"/>
          <p:cNvSpPr txBox="1"/>
          <p:nvPr/>
        </p:nvSpPr>
        <p:spPr>
          <a:xfrm>
            <a:off x="7151985" y="5668756"/>
            <a:ext cx="594122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🥁 طُم</a:t>
            </a:r>
            <a:endParaRPr lang="en-US" sz="1500" dirty="0"/>
          </a:p>
        </p:txBody>
      </p:sp>
      <p:sp>
        <p:nvSpPr>
          <p:cNvPr id="46" name="Rounded Rectangle"/>
          <p:cNvSpPr/>
          <p:nvPr/>
        </p:nvSpPr>
        <p:spPr>
          <a:xfrm>
            <a:off x="6567884" y="5740256"/>
            <a:ext cx="254000" cy="152376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47" name="Ellipse"/>
          <p:cNvSpPr/>
          <p:nvPr/>
        </p:nvSpPr>
        <p:spPr>
          <a:xfrm>
            <a:off x="6364734" y="5740256"/>
            <a:ext cx="152376" cy="152376"/>
          </a:xfrm>
          <a:prstGeom prst="ellipse">
            <a:avLst/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48" name="Rounded Rectangle"/>
          <p:cNvSpPr/>
          <p:nvPr/>
        </p:nvSpPr>
        <p:spPr>
          <a:xfrm>
            <a:off x="6059984" y="5740256"/>
            <a:ext cx="254000" cy="152376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49" name="Rounded Rectangle"/>
          <p:cNvSpPr/>
          <p:nvPr/>
        </p:nvSpPr>
        <p:spPr>
          <a:xfrm>
            <a:off x="5755233" y="5740256"/>
            <a:ext cx="254000" cy="152376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50" name="Ellipse"/>
          <p:cNvSpPr/>
          <p:nvPr/>
        </p:nvSpPr>
        <p:spPr>
          <a:xfrm>
            <a:off x="5552132" y="5740256"/>
            <a:ext cx="152376" cy="152376"/>
          </a:xfrm>
          <a:prstGeom prst="ellipse">
            <a:avLst/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51" name="Rounded Rectangle"/>
          <p:cNvSpPr/>
          <p:nvPr/>
        </p:nvSpPr>
        <p:spPr>
          <a:xfrm>
            <a:off x="5247332" y="5740256"/>
            <a:ext cx="254000" cy="152376"/>
          </a:xfrm>
          <a:prstGeom prst="roundRect">
            <a:avLst>
              <a:gd name="adj" fmla="val 50000"/>
            </a:avLst>
          </a:prstGeom>
          <a:solidFill>
            <a:srgbClr val="FBF5E6">
              <a:alpha val="18000"/>
            </a:srgbClr>
          </a:solidFill>
          <a:ln>
            <a:noFill/>
          </a:ln>
        </p:spPr>
      </p:sp>
      <p:sp>
        <p:nvSpPr>
          <p:cNvPr id="52" name="Text: أساسيات في علم العروض · أ. أسماء الحارثي"/>
          <p:cNvSpPr txBox="1"/>
          <p:nvPr/>
        </p:nvSpPr>
        <p:spPr>
          <a:xfrm>
            <a:off x="8909844" y="6499382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53" name="Text: ٤ / ١٤"/>
          <p:cNvSpPr txBox="1"/>
          <p:nvPr/>
        </p:nvSpPr>
        <p:spPr>
          <a:xfrm>
            <a:off x="698500" y="6716627"/>
            <a:ext cx="269180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٤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المفهوم"/>
          <p:cNvSpPr txBox="1"/>
          <p:nvPr/>
        </p:nvSpPr>
        <p:spPr>
          <a:xfrm>
            <a:off x="10709325" y="316756"/>
            <a:ext cx="61912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المفهوم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ما علم العَروض؟"/>
          <p:cNvSpPr txBox="1"/>
          <p:nvPr/>
        </p:nvSpPr>
        <p:spPr>
          <a:xfrm>
            <a:off x="9465915" y="679207"/>
            <a:ext cx="2027585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ما علم العَروض؟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5981750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5981750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6083300"/>
            <a:ext cx="196850" cy="24130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العروض ميزانُ الشعر، كما أن المي"/>
          <p:cNvSpPr txBox="1"/>
          <p:nvPr/>
        </p:nvSpPr>
        <p:spPr>
          <a:xfrm>
            <a:off x="6716961" y="6327329"/>
            <a:ext cx="4295924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العروض ميزانُ الشعر، كما أن الميزان يزن البضاعة.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661" y="1140461"/>
            <a:ext cx="8285511" cy="495947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4"/>
            <a:ext cx="19002" cy="4699180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93284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3436578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494031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ع ل مٌ يُ ع رَ ف ب ه ص ح ي حُ أ و ز ا ن "/>
          <p:cNvSpPr txBox="1"/>
          <p:nvPr/>
        </p:nvSpPr>
        <p:spPr>
          <a:xfrm>
            <a:off x="4906119" y="1999168"/>
            <a:ext cx="5927030" cy="8953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مٌ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يُ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رَ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حُ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500"/>
            </a:b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ن</a:t>
            </a:r>
            <a:endParaRPr lang="en-US" sz="2500" dirty="0"/>
          </a:p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م</a:t>
            </a:r>
            <a:endParaRPr lang="en-US" sz="25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500"/>
            </a:br>
            <a:r>
              <a:rPr lang="en-US" sz="25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.</a:t>
            </a:r>
            <a:endParaRPr lang="en-US" sz="2500" dirty="0"/>
          </a:p>
        </p:txBody>
      </p:sp>
      <p:sp>
        <p:nvSpPr>
          <p:cNvPr id="16" name="Text: سُمّي بذلك لأن الشعر يُعرَض عليه ليوزَن."/>
          <p:cNvSpPr txBox="1"/>
          <p:nvPr/>
        </p:nvSpPr>
        <p:spPr>
          <a:xfrm>
            <a:off x="6033542" y="3774105"/>
            <a:ext cx="4634508" cy="2943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سُمّي بذلك لأن الشعر</a:t>
            </a:r>
            <a:br>
              <a:rPr lang="en-US" sz="2200"/>
            </a:br>
            <a:r>
              <a:rPr lang="en-US" sz="22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يُعرَض</a:t>
            </a:r>
            <a:endParaRPr lang="en-US" sz="22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عليه ليوزَن.</a:t>
            </a:r>
            <a:endParaRPr lang="en-US" sz="2200" dirty="0"/>
          </a:p>
        </p:txBody>
      </p:sp>
      <p:sp>
        <p:nvSpPr>
          <p:cNvPr id="17" name="Rounded Rectangle"/>
          <p:cNvSpPr/>
          <p:nvPr/>
        </p:nvSpPr>
        <p:spPr>
          <a:xfrm rot="2700000">
            <a:off x="10774910" y="3587590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18" name="Text: فائدته: يحفظ الشعر من الخطأ، ويعين على ف"/>
          <p:cNvSpPr txBox="1"/>
          <p:nvPr/>
        </p:nvSpPr>
        <p:spPr>
          <a:xfrm>
            <a:off x="4136082" y="3785673"/>
            <a:ext cx="6531967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فائدته: يحفظ الشعر من الخطأ، ويعين على فهم موسيقاه.</a:t>
            </a:r>
            <a:endParaRPr lang="en-US" sz="2200" dirty="0"/>
          </a:p>
        </p:txBody>
      </p:sp>
      <p:sp>
        <p:nvSpPr>
          <p:cNvPr id="19" name="Rounded Rectangle"/>
          <p:cNvSpPr/>
          <p:nvPr/>
        </p:nvSpPr>
        <p:spPr>
          <a:xfrm rot="2700000">
            <a:off x="10774910" y="4197215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pic>
        <p:nvPicPr>
          <p:cNvPr id="20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61150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21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3876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22" name="Text: أساسيات في علم العروض · أ. أسماء الحارثي"/>
          <p:cNvSpPr txBox="1"/>
          <p:nvPr/>
        </p:nvSpPr>
        <p:spPr>
          <a:xfrm>
            <a:off x="8909844" y="6499383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23" name="Text: ٥ / ١٤"/>
          <p:cNvSpPr txBox="1"/>
          <p:nvPr/>
        </p:nvSpPr>
        <p:spPr>
          <a:xfrm>
            <a:off x="698500" y="6716629"/>
            <a:ext cx="272058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٥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Ellipse"/>
          <p:cNvSpPr/>
          <p:nvPr/>
        </p:nvSpPr>
        <p:spPr>
          <a:xfrm>
            <a:off x="10848544" y="383647"/>
            <a:ext cx="629588" cy="629588"/>
          </a:xfrm>
          <a:prstGeom prst="ellipse">
            <a:avLst/>
          </a:prstGeom>
          <a:noFill/>
          <a:ln w="30788" cap="flat" cmpd="sng" algn="ctr">
            <a:solidFill>
              <a:srgbClr val="D99A1E"/>
            </a:solidFill>
            <a:miter lim="800000"/>
          </a:ln>
          <a:effectLst>
            <a:outerShdw blurRad="101600" dist="38100" dir="5400000" sx="100000" sy="100000" algn="ctr" rotWithShape="0">
              <a:srgbClr val="24305E">
                <a:alpha val="18000"/>
              </a:srgbClr>
            </a:outerShdw>
          </a:effectLst>
        </p:spPr>
      </p:sp>
      <p:pic>
        <p:nvPicPr>
          <p:cNvPr id="4" name="Image: الخليل"/>
          <p:cNvPicPr>
            <a:picLocks noChangeAspect="1"/>
          </p:cNvPicPr>
          <p:nvPr/>
        </p:nvPicPr>
        <p:blipFill>
          <a:blip r:embed="rId3"/>
          <a:srcRect l="0" t="9990" r="0" b="23311"/>
          <a:stretch>
            <a:fillRect/>
          </a:stretch>
        </p:blipFill>
        <p:spPr>
          <a:xfrm>
            <a:off x="10863937" y="399041"/>
            <a:ext cx="598800" cy="598800"/>
          </a:xfrm>
          <a:prstGeom prst="ellipse">
            <a:avLst/>
          </a:prstGeom>
          <a:ln>
            <a:noFill/>
          </a:ln>
        </p:spPr>
      </p:pic>
      <p:sp>
        <p:nvSpPr>
          <p:cNvPr id="5" name="Text: لماذا «بيت»؟"/>
          <p:cNvSpPr txBox="1"/>
          <p:nvPr/>
        </p:nvSpPr>
        <p:spPr>
          <a:xfrm>
            <a:off x="9560421" y="316756"/>
            <a:ext cx="95527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لماذا «بيت»؟</a:t>
            </a:r>
            <a:endParaRPr lang="en-US" sz="1300" dirty="0"/>
          </a:p>
        </p:txBody>
      </p:sp>
      <p:sp>
        <p:nvSpPr>
          <p:cNvPr id="6" name="Ellipse"/>
          <p:cNvSpPr/>
          <p:nvPr/>
        </p:nvSpPr>
        <p:spPr>
          <a:xfrm>
            <a:off x="10591899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7" name="Text: الخيمة والبيت الشعري"/>
          <p:cNvSpPr txBox="1"/>
          <p:nvPr/>
        </p:nvSpPr>
        <p:spPr>
          <a:xfrm>
            <a:off x="8167836" y="679204"/>
            <a:ext cx="2512913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الخيمة والبيت الشعري</a:t>
            </a:r>
            <a:endParaRPr lang="en-US" sz="3400" dirty="0"/>
          </a:p>
        </p:txBody>
      </p:sp>
      <p:sp>
        <p:nvSpPr>
          <p:cNvPr id="8" name="Rounded Rectangle"/>
          <p:cNvSpPr/>
          <p:nvPr/>
        </p:nvSpPr>
        <p:spPr>
          <a:xfrm>
            <a:off x="5448250" y="5981750"/>
            <a:ext cx="6045248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9" name="Border"/>
          <p:cNvSpPr/>
          <p:nvPr/>
        </p:nvSpPr>
        <p:spPr>
          <a:xfrm>
            <a:off x="11431922" y="5981750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10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800" y="6083300"/>
            <a:ext cx="196850" cy="241300"/>
          </a:xfrm>
          <a:prstGeom prst="rect">
            <a:avLst/>
          </a:prstGeom>
          <a:ln>
            <a:noFill/>
          </a:ln>
        </p:spPr>
      </p:pic>
      <p:sp>
        <p:nvSpPr>
          <p:cNvPr id="11" name="Text: ملاحظة: البيت الشعري خيمةٌ من كلمات، لها"/>
          <p:cNvSpPr txBox="1"/>
          <p:nvPr/>
        </p:nvSpPr>
        <p:spPr>
          <a:xfrm>
            <a:off x="5998617" y="6327329"/>
            <a:ext cx="5014268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البيت الشعري خيمةٌ من كلمات، لها شطران كمصراعَي الباب.</a:t>
            </a:r>
            <a:endParaRPr lang="en-US" sz="1400" dirty="0"/>
          </a:p>
        </p:txBody>
      </p:sp>
      <p:pic>
        <p:nvPicPr>
          <p:cNvPr id="12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828" y="1132299"/>
            <a:ext cx="6309677" cy="4968004"/>
          </a:xfrm>
          <a:prstGeom prst="rect">
            <a:avLst/>
          </a:prstGeom>
          <a:ln>
            <a:noFill/>
          </a:ln>
        </p:spPr>
      </p:pic>
      <p:sp>
        <p:nvSpPr>
          <p:cNvPr id="13" name="Rectangle"/>
          <p:cNvSpPr/>
          <p:nvPr/>
        </p:nvSpPr>
        <p:spPr>
          <a:xfrm>
            <a:off x="10991949" y="1181004"/>
            <a:ext cx="19002" cy="4699180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4" name="Ellipse"/>
          <p:cNvSpPr/>
          <p:nvPr/>
        </p:nvSpPr>
        <p:spPr>
          <a:xfrm>
            <a:off x="11163399" y="193284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11163399" y="3436578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11163399" y="494031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7" name="Text: ش بّ ه ا ل ع ر ب ا ل ب ي ت ا ل ش ع ر ي ب"/>
          <p:cNvSpPr txBox="1"/>
          <p:nvPr/>
        </p:nvSpPr>
        <p:spPr>
          <a:xfrm>
            <a:off x="6504980" y="1956836"/>
            <a:ext cx="4328170" cy="8699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بّ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شَّ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عَ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endParaRPr lang="en-US" sz="2200" dirty="0"/>
          </a:p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(</a:t>
            </a:r>
            <a:endParaRPr lang="en-US" sz="22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)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:</a:t>
            </a:r>
            <a:endParaRPr lang="en-US" sz="2200" dirty="0"/>
          </a:p>
        </p:txBody>
      </p:sp>
      <p:sp>
        <p:nvSpPr>
          <p:cNvPr id="18" name="Text: ت ق و م ا ل خ ي م ة ع ل ى ا ل ح ب ا ل و "/>
          <p:cNvSpPr txBox="1"/>
          <p:nvPr/>
        </p:nvSpPr>
        <p:spPr>
          <a:xfrm>
            <a:off x="5843637" y="3176082"/>
            <a:ext cx="4824413" cy="9842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ى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ى</a:t>
            </a:r>
            <a:endParaRPr lang="en-US" sz="2200" dirty="0"/>
          </a:p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22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2200"/>
            </a:b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2200"/>
            </a:br>
            <a:r>
              <a:rPr lang="en-US" sz="22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.</a:t>
            </a:r>
            <a:endParaRPr lang="en-US" sz="2200" dirty="0"/>
          </a:p>
        </p:txBody>
      </p:sp>
      <p:sp>
        <p:nvSpPr>
          <p:cNvPr id="19" name="Rounded Rectangle"/>
          <p:cNvSpPr/>
          <p:nvPr/>
        </p:nvSpPr>
        <p:spPr>
          <a:xfrm rot="2700000">
            <a:off x="10774910" y="2978024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0" name="Text: وإنّي لنجمٌ تهتدي صُحبتي به ❋ إذا حال من"/>
          <p:cNvSpPr txBox="1"/>
          <p:nvPr/>
        </p:nvSpPr>
        <p:spPr>
          <a:xfrm>
            <a:off x="5735389" y="4426083"/>
            <a:ext cx="5089971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وإنّي لنجمٌ تهتدي صُحبتي به ❋ إذا حال من دون النجوم سحابُ</a:t>
            </a:r>
            <a:endParaRPr lang="en-US" sz="2000" dirty="0"/>
          </a:p>
        </p:txBody>
      </p:sp>
      <p:sp>
        <p:nvSpPr>
          <p:cNvPr id="21" name="Rounded Rectangle"/>
          <p:cNvSpPr/>
          <p:nvPr/>
        </p:nvSpPr>
        <p:spPr>
          <a:xfrm rot="21480000">
            <a:off x="698500" y="1320691"/>
            <a:ext cx="4572000" cy="2927254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>
            <a:noFill/>
          </a:ln>
          <a:effectLst>
            <a:outerShdw blurRad="228600" dist="114300" dir="5400000" sx="100000" sy="100000" algn="ctr" rotWithShape="0">
              <a:srgbClr val="2A2233">
                <a:alpha val="22000"/>
              </a:srgbClr>
            </a:outerShdw>
          </a:effectLst>
        </p:spPr>
      </p:sp>
      <p:pic>
        <p:nvPicPr>
          <p:cNvPr id="22" name="Image: بيت الشَّعَر: حبالٌ وأوتادٌ وبابان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80000">
            <a:off x="795545" y="1422336"/>
            <a:ext cx="4368752" cy="2457438"/>
          </a:xfrm>
          <a:prstGeom prst="roundRect">
            <a:avLst>
              <a:gd name="adj" fmla="val 1034"/>
            </a:avLst>
          </a:prstGeom>
          <a:ln>
            <a:noFill/>
          </a:ln>
        </p:spPr>
      </p:pic>
      <p:sp>
        <p:nvSpPr>
          <p:cNvPr id="23" name="Text: بيت الشَّعَر: حبالٌ وأوتادٌ وبابان"/>
          <p:cNvSpPr txBox="1"/>
          <p:nvPr/>
        </p:nvSpPr>
        <p:spPr>
          <a:xfrm rot="21480000">
            <a:off x="2145899" y="3917380"/>
            <a:ext cx="1766044" cy="279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بيت الشَّعَر: حبالٌ وأوتادٌ وبابان</a:t>
            </a:r>
            <a:endParaRPr lang="en-US" sz="1400" dirty="0"/>
          </a:p>
        </p:txBody>
      </p:sp>
      <p:sp>
        <p:nvSpPr>
          <p:cNvPr id="24" name="Rectangle"/>
          <p:cNvSpPr/>
          <p:nvPr/>
        </p:nvSpPr>
        <p:spPr>
          <a:xfrm rot="60000">
            <a:off x="2489142" y="1220016"/>
            <a:ext cx="889000" cy="215876"/>
          </a:xfrm>
          <a:prstGeom prst="rect">
            <a:avLst/>
          </a:prstGeom>
          <a:solidFill>
            <a:srgbClr val="D99A1E">
              <a:alpha val="55000"/>
            </a:srgbClr>
          </a:solidFill>
          <a:ln>
            <a:noFill/>
          </a:ln>
        </p:spPr>
      </p:sp>
      <p:sp>
        <p:nvSpPr>
          <p:cNvPr id="25" name="Text: أساسيات في علم العروض · أ. أسماء الحارثي"/>
          <p:cNvSpPr txBox="1"/>
          <p:nvPr/>
        </p:nvSpPr>
        <p:spPr>
          <a:xfrm>
            <a:off x="8909844" y="6499383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26" name="Text: ٦ / ١٤"/>
          <p:cNvSpPr txBox="1"/>
          <p:nvPr/>
        </p:nvSpPr>
        <p:spPr>
          <a:xfrm>
            <a:off x="698500" y="6716629"/>
            <a:ext cx="265658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٦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بناء البيت"/>
          <p:cNvSpPr txBox="1"/>
          <p:nvPr/>
        </p:nvSpPr>
        <p:spPr>
          <a:xfrm>
            <a:off x="10637341" y="316756"/>
            <a:ext cx="69110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بناء البيت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أجزاء البيت الشعري"/>
          <p:cNvSpPr txBox="1"/>
          <p:nvPr/>
        </p:nvSpPr>
        <p:spPr>
          <a:xfrm>
            <a:off x="9059565" y="679204"/>
            <a:ext cx="2433935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أجزاء البيت الشعري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3924312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3924312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40195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كلمة «العَروض» اسمٌ للعلم كلّه، "/>
          <p:cNvSpPr txBox="1"/>
          <p:nvPr/>
        </p:nvSpPr>
        <p:spPr>
          <a:xfrm>
            <a:off x="5573266" y="4269891"/>
            <a:ext cx="5439618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كلمة «العَروض» اسمٌ للعلم كلّه، واسمٌ لآخر تفعيلة في الصدر أيضًا.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136650"/>
            <a:ext cx="8293100" cy="290830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4"/>
            <a:ext cx="19002" cy="2641744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603676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2449020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329436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عليكَ بالنفسِ فاستكملْ فضائلَها ❋ فأنتَ "/>
          <p:cNvSpPr txBox="1"/>
          <p:nvPr/>
        </p:nvSpPr>
        <p:spPr>
          <a:xfrm>
            <a:off x="5073551" y="1345719"/>
            <a:ext cx="443244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عليكَ بالنفسِ فاستكملْ فضائلَها ❋ فأنتَ بالنفسِ لا بالجسمِ إنسانُ</a:t>
            </a:r>
            <a:endParaRPr lang="en-US" sz="1700" dirty="0"/>
          </a:p>
        </p:txBody>
      </p:sp>
      <p:sp>
        <p:nvSpPr>
          <p:cNvPr id="16" name="Text: البيت مقسّم إلى شطرين: صدر وعجز"/>
          <p:cNvSpPr txBox="1"/>
          <p:nvPr/>
        </p:nvSpPr>
        <p:spPr>
          <a:xfrm>
            <a:off x="8424218" y="1573563"/>
            <a:ext cx="240893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البيت مقسّم إلى شطرين: صدر وعجز</a:t>
            </a:r>
            <a:endParaRPr lang="en-US" sz="1300" dirty="0"/>
          </a:p>
        </p:txBody>
      </p:sp>
      <p:sp>
        <p:nvSpPr>
          <p:cNvPr id="17" name="Text: الصدر"/>
          <p:cNvSpPr txBox="1"/>
          <p:nvPr/>
        </p:nvSpPr>
        <p:spPr>
          <a:xfrm>
            <a:off x="10392321" y="1910305"/>
            <a:ext cx="44082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الصدر</a:t>
            </a:r>
            <a:endParaRPr lang="en-US" sz="1300" dirty="0"/>
          </a:p>
        </p:txBody>
      </p:sp>
      <p:sp>
        <p:nvSpPr>
          <p:cNvPr id="18" name="Rounded Rectangle"/>
          <p:cNvSpPr/>
          <p:nvPr/>
        </p:nvSpPr>
        <p:spPr>
          <a:xfrm>
            <a:off x="8733897" y="1923401"/>
            <a:ext cx="1585455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19" name="Text: عَلَيْكَ"/>
          <p:cNvSpPr txBox="1"/>
          <p:nvPr/>
        </p:nvSpPr>
        <p:spPr>
          <a:xfrm>
            <a:off x="9369127" y="1929944"/>
            <a:ext cx="31492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عَلَيْكَ</a:t>
            </a:r>
            <a:endParaRPr lang="en-US" sz="1500" dirty="0"/>
          </a:p>
        </p:txBody>
      </p:sp>
      <p:sp>
        <p:nvSpPr>
          <p:cNvPr id="20" name="Rounded Rectangle"/>
          <p:cNvSpPr/>
          <p:nvPr/>
        </p:nvSpPr>
        <p:spPr>
          <a:xfrm>
            <a:off x="7073323" y="1923401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21" name="Text: بِالنَّفْسِ"/>
          <p:cNvSpPr txBox="1"/>
          <p:nvPr/>
        </p:nvSpPr>
        <p:spPr>
          <a:xfrm>
            <a:off x="7638405" y="1929944"/>
            <a:ext cx="455315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بِالنَّفْسِ</a:t>
            </a:r>
            <a:endParaRPr lang="en-US" sz="1500" dirty="0"/>
          </a:p>
        </p:txBody>
      </p:sp>
      <p:sp>
        <p:nvSpPr>
          <p:cNvPr id="22" name="Rounded Rectangle"/>
          <p:cNvSpPr/>
          <p:nvPr/>
        </p:nvSpPr>
        <p:spPr>
          <a:xfrm>
            <a:off x="5412798" y="1923401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23" name="Text: فَاسْتَكْمِلْ"/>
          <p:cNvSpPr txBox="1"/>
          <p:nvPr/>
        </p:nvSpPr>
        <p:spPr>
          <a:xfrm>
            <a:off x="5963196" y="1929944"/>
            <a:ext cx="484634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فَاسْتَكْمِلْ</a:t>
            </a:r>
            <a:endParaRPr lang="en-US" sz="1500" dirty="0"/>
          </a:p>
        </p:txBody>
      </p:sp>
      <p:sp>
        <p:nvSpPr>
          <p:cNvPr id="24" name="Rounded Rectangle"/>
          <p:cNvSpPr/>
          <p:nvPr/>
        </p:nvSpPr>
        <p:spPr>
          <a:xfrm>
            <a:off x="3752223" y="1923401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25" name="Text: فَضَائِلَهَا"/>
          <p:cNvSpPr txBox="1"/>
          <p:nvPr/>
        </p:nvSpPr>
        <p:spPr>
          <a:xfrm>
            <a:off x="4330452" y="1929944"/>
            <a:ext cx="429071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فَضَائِلَهَا</a:t>
            </a:r>
            <a:endParaRPr lang="en-US" sz="1500" dirty="0"/>
          </a:p>
        </p:txBody>
      </p:sp>
      <p:sp>
        <p:nvSpPr>
          <p:cNvPr id="26" name="Text: العجز"/>
          <p:cNvSpPr txBox="1"/>
          <p:nvPr/>
        </p:nvSpPr>
        <p:spPr>
          <a:xfrm>
            <a:off x="10422682" y="2339770"/>
            <a:ext cx="410468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العجز</a:t>
            </a:r>
            <a:endParaRPr lang="en-US" sz="1300" dirty="0"/>
          </a:p>
        </p:txBody>
      </p:sp>
      <p:sp>
        <p:nvSpPr>
          <p:cNvPr id="27" name="Rounded Rectangle"/>
          <p:cNvSpPr/>
          <p:nvPr/>
        </p:nvSpPr>
        <p:spPr>
          <a:xfrm>
            <a:off x="8733897" y="2352867"/>
            <a:ext cx="1585455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28" name="Text: فَأَنْتَ"/>
          <p:cNvSpPr txBox="1"/>
          <p:nvPr/>
        </p:nvSpPr>
        <p:spPr>
          <a:xfrm>
            <a:off x="9357370" y="2359409"/>
            <a:ext cx="338534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فَأَنْتَ</a:t>
            </a:r>
            <a:endParaRPr lang="en-US" sz="1500" dirty="0"/>
          </a:p>
        </p:txBody>
      </p:sp>
      <p:sp>
        <p:nvSpPr>
          <p:cNvPr id="29" name="Rounded Rectangle"/>
          <p:cNvSpPr/>
          <p:nvPr/>
        </p:nvSpPr>
        <p:spPr>
          <a:xfrm>
            <a:off x="7073323" y="2352867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0" name="Text: بِالنَّفْسِ"/>
          <p:cNvSpPr txBox="1"/>
          <p:nvPr/>
        </p:nvSpPr>
        <p:spPr>
          <a:xfrm>
            <a:off x="7638405" y="2359409"/>
            <a:ext cx="455315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بِالنَّفْسِ</a:t>
            </a:r>
            <a:endParaRPr lang="en-US" sz="1500" dirty="0"/>
          </a:p>
        </p:txBody>
      </p:sp>
      <p:sp>
        <p:nvSpPr>
          <p:cNvPr id="31" name="Rounded Rectangle"/>
          <p:cNvSpPr/>
          <p:nvPr/>
        </p:nvSpPr>
        <p:spPr>
          <a:xfrm>
            <a:off x="5412798" y="2352867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2" name="Text: لَا بِالْجِسْمِ"/>
          <p:cNvSpPr txBox="1"/>
          <p:nvPr/>
        </p:nvSpPr>
        <p:spPr>
          <a:xfrm>
            <a:off x="5917704" y="2359409"/>
            <a:ext cx="575618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لَا بِالْجِسْمِ</a:t>
            </a:r>
            <a:endParaRPr lang="en-US" sz="1500" dirty="0"/>
          </a:p>
        </p:txBody>
      </p:sp>
      <p:sp>
        <p:nvSpPr>
          <p:cNvPr id="33" name="Rounded Rectangle"/>
          <p:cNvSpPr/>
          <p:nvPr/>
        </p:nvSpPr>
        <p:spPr>
          <a:xfrm>
            <a:off x="3752223" y="2352867"/>
            <a:ext cx="1585516" cy="341733"/>
          </a:xfrm>
          <a:prstGeom prst="roundRect">
            <a:avLst>
              <a:gd name="adj" fmla="val 20609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4" name="Text: إِنْسَانُ"/>
          <p:cNvSpPr txBox="1"/>
          <p:nvPr/>
        </p:nvSpPr>
        <p:spPr>
          <a:xfrm>
            <a:off x="4380260" y="2359409"/>
            <a:ext cx="329406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إِنْسَانُ</a:t>
            </a:r>
            <a:endParaRPr lang="en-US" sz="1500" dirty="0"/>
          </a:p>
        </p:txBody>
      </p:sp>
      <p:pic>
        <p:nvPicPr>
          <p:cNvPr id="35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36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37" name="Rounded Rectangle"/>
          <p:cNvSpPr/>
          <p:nvPr/>
        </p:nvSpPr>
        <p:spPr>
          <a:xfrm>
            <a:off x="698500" y="4495750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38" name="Rounded Rectangle"/>
          <p:cNvSpPr/>
          <p:nvPr/>
        </p:nvSpPr>
        <p:spPr>
          <a:xfrm>
            <a:off x="10101808" y="4635441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39" name="Text: نشاط تفاعلي"/>
          <p:cNvSpPr txBox="1"/>
          <p:nvPr/>
        </p:nvSpPr>
        <p:spPr>
          <a:xfrm>
            <a:off x="10216059" y="4668115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40" name="Text: اضغطي على المصطلح ليتلوّن موضعه في البيت"/>
          <p:cNvSpPr txBox="1"/>
          <p:nvPr/>
        </p:nvSpPr>
        <p:spPr>
          <a:xfrm>
            <a:off x="6051550" y="4640070"/>
            <a:ext cx="393600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اضغطي على المصطلح ليتلوّن موضعه في البيت</a:t>
            </a:r>
            <a:endParaRPr lang="en-US" sz="1500" dirty="0"/>
          </a:p>
        </p:txBody>
      </p:sp>
      <p:sp>
        <p:nvSpPr>
          <p:cNvPr id="41" name="Rounded Rectangle"/>
          <p:cNvSpPr/>
          <p:nvPr/>
        </p:nvSpPr>
        <p:spPr>
          <a:xfrm>
            <a:off x="10472986" y="5235504"/>
            <a:ext cx="766510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2" name="Text: الصدر"/>
          <p:cNvSpPr txBox="1"/>
          <p:nvPr/>
        </p:nvSpPr>
        <p:spPr>
          <a:xfrm>
            <a:off x="10625386" y="5306687"/>
            <a:ext cx="46176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الصدر</a:t>
            </a:r>
            <a:endParaRPr lang="en-US" sz="1400" dirty="0"/>
          </a:p>
        </p:txBody>
      </p:sp>
      <p:sp>
        <p:nvSpPr>
          <p:cNvPr id="43" name="Rounded Rectangle"/>
          <p:cNvSpPr/>
          <p:nvPr/>
        </p:nvSpPr>
        <p:spPr>
          <a:xfrm>
            <a:off x="9648329" y="5235504"/>
            <a:ext cx="735782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4" name="Text: العجز"/>
          <p:cNvSpPr txBox="1"/>
          <p:nvPr/>
        </p:nvSpPr>
        <p:spPr>
          <a:xfrm>
            <a:off x="9800729" y="5306687"/>
            <a:ext cx="431006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العجز</a:t>
            </a:r>
            <a:endParaRPr lang="en-US" sz="1400" dirty="0"/>
          </a:p>
        </p:txBody>
      </p:sp>
      <p:sp>
        <p:nvSpPr>
          <p:cNvPr id="45" name="Rounded Rectangle"/>
          <p:cNvSpPr/>
          <p:nvPr/>
        </p:nvSpPr>
        <p:spPr>
          <a:xfrm>
            <a:off x="8599884" y="5235504"/>
            <a:ext cx="959596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6" name="Text: العَروض"/>
          <p:cNvSpPr txBox="1"/>
          <p:nvPr/>
        </p:nvSpPr>
        <p:spPr>
          <a:xfrm>
            <a:off x="8752235" y="5306687"/>
            <a:ext cx="65484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400" dirty="0"/>
          </a:p>
        </p:txBody>
      </p:sp>
      <p:sp>
        <p:nvSpPr>
          <p:cNvPr id="47" name="Rounded Rectangle"/>
          <p:cNvSpPr/>
          <p:nvPr/>
        </p:nvSpPr>
        <p:spPr>
          <a:xfrm>
            <a:off x="7673181" y="5235504"/>
            <a:ext cx="837827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8" name="Text: الضرب"/>
          <p:cNvSpPr txBox="1"/>
          <p:nvPr/>
        </p:nvSpPr>
        <p:spPr>
          <a:xfrm>
            <a:off x="7825532" y="5306687"/>
            <a:ext cx="53310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الضرب</a:t>
            </a:r>
            <a:endParaRPr lang="en-US" sz="1400" dirty="0"/>
          </a:p>
        </p:txBody>
      </p:sp>
      <p:sp>
        <p:nvSpPr>
          <p:cNvPr id="49" name="Rounded Rectangle"/>
          <p:cNvSpPr/>
          <p:nvPr/>
        </p:nvSpPr>
        <p:spPr>
          <a:xfrm>
            <a:off x="6756946" y="5235504"/>
            <a:ext cx="827364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50" name="Text: الحشو"/>
          <p:cNvSpPr txBox="1"/>
          <p:nvPr/>
        </p:nvSpPr>
        <p:spPr>
          <a:xfrm>
            <a:off x="6909296" y="5306687"/>
            <a:ext cx="52263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الحشو</a:t>
            </a:r>
            <a:endParaRPr lang="en-US" sz="1400" dirty="0"/>
          </a:p>
        </p:txBody>
      </p:sp>
      <p:sp>
        <p:nvSpPr>
          <p:cNvPr id="51" name="Text: اختاري مصطلحًا لترَي أين يقع في البيت ↑"/>
          <p:cNvSpPr txBox="1"/>
          <p:nvPr/>
        </p:nvSpPr>
        <p:spPr>
          <a:xfrm>
            <a:off x="7918549" y="5751320"/>
            <a:ext cx="3320951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8E2A6"/>
                </a:solidFill>
                <a:latin typeface="Tajawal"/>
                <a:ea typeface="Tajawal"/>
                <a:cs typeface="Tajawal"/>
              </a:rPr>
              <a:t>اختاري مصطلحًا لترَي أين يقع في البيت ↑</a:t>
            </a:r>
            <a:endParaRPr lang="en-US" sz="1500" dirty="0"/>
          </a:p>
        </p:txBody>
      </p:sp>
      <p:sp>
        <p:nvSpPr>
          <p:cNvPr id="52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53" name="Text: ٧ / ١٤"/>
          <p:cNvSpPr txBox="1"/>
          <p:nvPr/>
        </p:nvSpPr>
        <p:spPr>
          <a:xfrm>
            <a:off x="698500" y="6716629"/>
            <a:ext cx="282972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٧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نشاط تطبيقي · أبو مسلم البهلاني"/>
          <p:cNvSpPr txBox="1"/>
          <p:nvPr/>
        </p:nvSpPr>
        <p:spPr>
          <a:xfrm>
            <a:off x="8897392" y="316753"/>
            <a:ext cx="243105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نشاط تطبيقي · أبو مسلم البهلاني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حدّدي أجزاء البيت"/>
          <p:cNvSpPr txBox="1"/>
          <p:nvPr/>
        </p:nvSpPr>
        <p:spPr>
          <a:xfrm>
            <a:off x="9180909" y="679204"/>
            <a:ext cx="2312591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حدّدي أجزاء البيت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1181004"/>
            <a:ext cx="8026436" cy="1051719"/>
          </a:xfrm>
          <a:prstGeom prst="roundRect">
            <a:avLst>
              <a:gd name="adj" fmla="val 16906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7" name="Rounded Rectangle"/>
          <p:cNvSpPr/>
          <p:nvPr/>
        </p:nvSpPr>
        <p:spPr>
          <a:xfrm>
            <a:off x="10523786" y="1319550"/>
            <a:ext cx="766510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8" name="Text: الصدر"/>
          <p:cNvSpPr txBox="1"/>
          <p:nvPr/>
        </p:nvSpPr>
        <p:spPr>
          <a:xfrm>
            <a:off x="10676186" y="1390734"/>
            <a:ext cx="46176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الصدر</a:t>
            </a:r>
            <a:endParaRPr lang="en-US" sz="1400" dirty="0"/>
          </a:p>
        </p:txBody>
      </p:sp>
      <p:sp>
        <p:nvSpPr>
          <p:cNvPr id="9" name="Rounded Rectangle"/>
          <p:cNvSpPr/>
          <p:nvPr/>
        </p:nvSpPr>
        <p:spPr>
          <a:xfrm>
            <a:off x="9699129" y="1319550"/>
            <a:ext cx="735782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10" name="Text: العجز"/>
          <p:cNvSpPr txBox="1"/>
          <p:nvPr/>
        </p:nvSpPr>
        <p:spPr>
          <a:xfrm>
            <a:off x="9851529" y="1390734"/>
            <a:ext cx="431006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العجز</a:t>
            </a:r>
            <a:endParaRPr lang="en-US" sz="1400" dirty="0"/>
          </a:p>
        </p:txBody>
      </p:sp>
      <p:sp>
        <p:nvSpPr>
          <p:cNvPr id="11" name="Rounded Rectangle"/>
          <p:cNvSpPr/>
          <p:nvPr/>
        </p:nvSpPr>
        <p:spPr>
          <a:xfrm>
            <a:off x="8650684" y="1319550"/>
            <a:ext cx="959596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12" name="Text: العَروض"/>
          <p:cNvSpPr txBox="1"/>
          <p:nvPr/>
        </p:nvSpPr>
        <p:spPr>
          <a:xfrm>
            <a:off x="8803035" y="1390734"/>
            <a:ext cx="65484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400" dirty="0"/>
          </a:p>
        </p:txBody>
      </p:sp>
      <p:sp>
        <p:nvSpPr>
          <p:cNvPr id="13" name="Rounded Rectangle"/>
          <p:cNvSpPr/>
          <p:nvPr/>
        </p:nvSpPr>
        <p:spPr>
          <a:xfrm>
            <a:off x="7723981" y="1319550"/>
            <a:ext cx="837827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14" name="Text: الضرب"/>
          <p:cNvSpPr txBox="1"/>
          <p:nvPr/>
        </p:nvSpPr>
        <p:spPr>
          <a:xfrm>
            <a:off x="7876332" y="1390734"/>
            <a:ext cx="53310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الضرب</a:t>
            </a:r>
            <a:endParaRPr lang="en-US" sz="1400" dirty="0"/>
          </a:p>
        </p:txBody>
      </p:sp>
      <p:sp>
        <p:nvSpPr>
          <p:cNvPr id="15" name="Rounded Rectangle"/>
          <p:cNvSpPr/>
          <p:nvPr/>
        </p:nvSpPr>
        <p:spPr>
          <a:xfrm>
            <a:off x="6807746" y="1319550"/>
            <a:ext cx="827364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16" name="Text: الحشو"/>
          <p:cNvSpPr txBox="1"/>
          <p:nvPr/>
        </p:nvSpPr>
        <p:spPr>
          <a:xfrm>
            <a:off x="6960096" y="1390734"/>
            <a:ext cx="52263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الحشو</a:t>
            </a:r>
            <a:endParaRPr lang="en-US" sz="1400" dirty="0"/>
          </a:p>
        </p:txBody>
      </p:sp>
      <p:sp>
        <p:nvSpPr>
          <p:cNvPr id="17" name="Rounded Rectangle"/>
          <p:cNvSpPr/>
          <p:nvPr/>
        </p:nvSpPr>
        <p:spPr>
          <a:xfrm>
            <a:off x="3676023" y="1313777"/>
            <a:ext cx="1135483" cy="430609"/>
          </a:xfrm>
          <a:prstGeom prst="roundRect">
            <a:avLst>
              <a:gd name="adj" fmla="val 22254"/>
            </a:avLst>
          </a:prstGeom>
          <a:solidFill>
            <a:srgbClr val="FBF5E6">
              <a:alpha val="12000"/>
            </a:srgbClr>
          </a:solidFill>
          <a:ln w="11545" cap="flat" cmpd="sng" algn="ctr">
            <a:solidFill>
              <a:srgbClr val="FBF5E6">
                <a:alpha val="50000"/>
              </a:srgbClr>
            </a:solidFill>
            <a:prstDash val="dash"/>
            <a:miter lim="800000"/>
          </a:ln>
        </p:spPr>
      </p:sp>
      <p:sp>
        <p:nvSpPr>
          <p:cNvPr id="18" name="Text: ↺ من جديد"/>
          <p:cNvSpPr txBox="1"/>
          <p:nvPr/>
        </p:nvSpPr>
        <p:spPr>
          <a:xfrm>
            <a:off x="3834160" y="1390734"/>
            <a:ext cx="81920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↺ من جديد</a:t>
            </a:r>
            <a:endParaRPr lang="en-US" sz="1400" dirty="0"/>
          </a:p>
        </p:txBody>
      </p:sp>
      <p:sp>
        <p:nvSpPr>
          <p:cNvPr id="19" name="Text: اختاري مصطلحًا، ثم اضغطي على موضعه في أح"/>
          <p:cNvSpPr txBox="1"/>
          <p:nvPr/>
        </p:nvSpPr>
        <p:spPr>
          <a:xfrm>
            <a:off x="6938566" y="1834031"/>
            <a:ext cx="435173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8E2A6"/>
                </a:solidFill>
                <a:latin typeface="Tajawal"/>
                <a:ea typeface="Tajawal"/>
                <a:cs typeface="Tajawal"/>
              </a:rPr>
              <a:t>اختاري مصطلحًا، ثم اضغطي على موضعه في أحد البيتين.</a:t>
            </a:r>
            <a:endParaRPr lang="en-US" sz="1400" dirty="0"/>
          </a:p>
        </p:txBody>
      </p:sp>
      <p:sp>
        <p:nvSpPr>
          <p:cNvPr id="20" name="Rounded Rectangle"/>
          <p:cNvSpPr/>
          <p:nvPr/>
        </p:nvSpPr>
        <p:spPr>
          <a:xfrm>
            <a:off x="3467050" y="2346973"/>
            <a:ext cx="8026436" cy="957250"/>
          </a:xfrm>
          <a:prstGeom prst="roundRect">
            <a:avLst>
              <a:gd name="adj" fmla="val 14594"/>
            </a:avLst>
          </a:prstGeom>
          <a:solidFill>
            <a:srgbClr val="FFFDF5"/>
          </a:solidFill>
          <a:ln>
            <a:noFill/>
          </a:ln>
          <a:effectLst>
            <a:outerShdw blurRad="190500" dist="8890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21" name="Text: البيت الأول"/>
          <p:cNvSpPr txBox="1"/>
          <p:nvPr/>
        </p:nvSpPr>
        <p:spPr>
          <a:xfrm>
            <a:off x="10496153" y="2714265"/>
            <a:ext cx="819596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البيت</a:t>
            </a:r>
            <a:br>
              <a:rPr lang="en-US" sz="1300"/>
            </a:b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الأول</a:t>
            </a:r>
            <a:endParaRPr lang="en-US" sz="1300" dirty="0"/>
          </a:p>
        </p:txBody>
      </p:sp>
      <p:sp>
        <p:nvSpPr>
          <p:cNvPr id="22" name="Rounded Rectangle"/>
          <p:cNvSpPr/>
          <p:nvPr/>
        </p:nvSpPr>
        <p:spPr>
          <a:xfrm>
            <a:off x="6415651" y="2466999"/>
            <a:ext cx="535661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23" name="Text: الصدر"/>
          <p:cNvSpPr txBox="1"/>
          <p:nvPr/>
        </p:nvSpPr>
        <p:spPr>
          <a:xfrm>
            <a:off x="6510338" y="2488022"/>
            <a:ext cx="34632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الصدر</a:t>
            </a:r>
            <a:endParaRPr lang="en-US" sz="1050" dirty="0"/>
          </a:p>
        </p:txBody>
      </p:sp>
      <p:sp>
        <p:nvSpPr>
          <p:cNvPr id="24" name="Rounded Rectangle"/>
          <p:cNvSpPr/>
          <p:nvPr/>
        </p:nvSpPr>
        <p:spPr>
          <a:xfrm>
            <a:off x="5802678" y="2466999"/>
            <a:ext cx="512570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25" name="Text: العجز"/>
          <p:cNvSpPr txBox="1"/>
          <p:nvPr/>
        </p:nvSpPr>
        <p:spPr>
          <a:xfrm>
            <a:off x="5897314" y="2488022"/>
            <a:ext cx="32330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العجز</a:t>
            </a:r>
            <a:endParaRPr lang="en-US" sz="1050" dirty="0"/>
          </a:p>
        </p:txBody>
      </p:sp>
      <p:sp>
        <p:nvSpPr>
          <p:cNvPr id="26" name="Rounded Rectangle"/>
          <p:cNvSpPr/>
          <p:nvPr/>
        </p:nvSpPr>
        <p:spPr>
          <a:xfrm>
            <a:off x="5021777" y="2466999"/>
            <a:ext cx="680460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27" name="Text: العَروض"/>
          <p:cNvSpPr txBox="1"/>
          <p:nvPr/>
        </p:nvSpPr>
        <p:spPr>
          <a:xfrm>
            <a:off x="5116463" y="2488022"/>
            <a:ext cx="49113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050" dirty="0"/>
          </a:p>
        </p:txBody>
      </p:sp>
      <p:sp>
        <p:nvSpPr>
          <p:cNvPr id="28" name="Rounded Rectangle"/>
          <p:cNvSpPr/>
          <p:nvPr/>
        </p:nvSpPr>
        <p:spPr>
          <a:xfrm>
            <a:off x="4332256" y="2466999"/>
            <a:ext cx="589119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29" name="Text: الضرب"/>
          <p:cNvSpPr txBox="1"/>
          <p:nvPr/>
        </p:nvSpPr>
        <p:spPr>
          <a:xfrm>
            <a:off x="4426893" y="2488022"/>
            <a:ext cx="399852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الضرب</a:t>
            </a:r>
            <a:endParaRPr lang="en-US" sz="1050" dirty="0"/>
          </a:p>
        </p:txBody>
      </p:sp>
      <p:sp>
        <p:nvSpPr>
          <p:cNvPr id="30" name="Rounded Rectangle"/>
          <p:cNvSpPr/>
          <p:nvPr/>
        </p:nvSpPr>
        <p:spPr>
          <a:xfrm>
            <a:off x="3650574" y="2466999"/>
            <a:ext cx="581241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31" name="Text: الحشو"/>
          <p:cNvSpPr txBox="1"/>
          <p:nvPr/>
        </p:nvSpPr>
        <p:spPr>
          <a:xfrm>
            <a:off x="3745260" y="2488022"/>
            <a:ext cx="39191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الحشو</a:t>
            </a:r>
            <a:endParaRPr lang="en-US" sz="1050" dirty="0"/>
          </a:p>
        </p:txBody>
      </p:sp>
      <p:sp>
        <p:nvSpPr>
          <p:cNvPr id="32" name="Rounded Rectangle"/>
          <p:cNvSpPr/>
          <p:nvPr/>
        </p:nvSpPr>
        <p:spPr>
          <a:xfrm>
            <a:off x="10408710" y="2804343"/>
            <a:ext cx="90126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3" name="Text: قَدْ يُخْطِئُ"/>
          <p:cNvSpPr txBox="1"/>
          <p:nvPr/>
        </p:nvSpPr>
        <p:spPr>
          <a:xfrm>
            <a:off x="10589468" y="2792028"/>
            <a:ext cx="539750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قَدْ يُخْطِئُ</a:t>
            </a:r>
            <a:endParaRPr lang="en-US" sz="1500" dirty="0"/>
          </a:p>
        </p:txBody>
      </p:sp>
      <p:sp>
        <p:nvSpPr>
          <p:cNvPr id="34" name="Rounded Rectangle"/>
          <p:cNvSpPr/>
          <p:nvPr/>
        </p:nvSpPr>
        <p:spPr>
          <a:xfrm>
            <a:off x="9445097" y="28043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5" name="Text: النَّقْلُ"/>
          <p:cNvSpPr txBox="1"/>
          <p:nvPr/>
        </p:nvSpPr>
        <p:spPr>
          <a:xfrm>
            <a:off x="9737824" y="2792028"/>
            <a:ext cx="315863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النَّقْلُ</a:t>
            </a:r>
            <a:endParaRPr lang="en-US" sz="1500" dirty="0"/>
          </a:p>
        </p:txBody>
      </p:sp>
      <p:sp>
        <p:nvSpPr>
          <p:cNvPr id="36" name="Rounded Rectangle"/>
          <p:cNvSpPr/>
          <p:nvPr/>
        </p:nvSpPr>
        <p:spPr>
          <a:xfrm>
            <a:off x="8481485" y="28043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7" name="Text: وَالتَّحْقِيقُ"/>
          <p:cNvSpPr txBox="1"/>
          <p:nvPr/>
        </p:nvSpPr>
        <p:spPr>
          <a:xfrm>
            <a:off x="8658275" y="2792028"/>
            <a:ext cx="547688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وَالتَّحْقِيقُ</a:t>
            </a:r>
            <a:endParaRPr lang="en-US" sz="1500" dirty="0"/>
          </a:p>
        </p:txBody>
      </p:sp>
      <p:sp>
        <p:nvSpPr>
          <p:cNvPr id="38" name="Rounded Rectangle"/>
          <p:cNvSpPr/>
          <p:nvPr/>
        </p:nvSpPr>
        <p:spPr>
          <a:xfrm>
            <a:off x="7517823" y="28043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39" name="Text: يَعْكِسُهُ"/>
          <p:cNvSpPr txBox="1"/>
          <p:nvPr/>
        </p:nvSpPr>
        <p:spPr>
          <a:xfrm>
            <a:off x="7769324" y="2792028"/>
            <a:ext cx="398363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يَعْكِسُهُ</a:t>
            </a:r>
            <a:endParaRPr lang="en-US" sz="1500" dirty="0"/>
          </a:p>
        </p:txBody>
      </p:sp>
      <p:sp>
        <p:nvSpPr>
          <p:cNvPr id="40" name="Text: ❋"/>
          <p:cNvSpPr txBox="1"/>
          <p:nvPr/>
        </p:nvSpPr>
        <p:spPr>
          <a:xfrm>
            <a:off x="7291139" y="2848226"/>
            <a:ext cx="15741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D99A1E"/>
                </a:solidFill>
                <a:latin typeface="Tajawal"/>
                <a:ea typeface="Tajawal"/>
                <a:cs typeface="Tajawal"/>
              </a:rPr>
              <a:t>❋</a:t>
            </a:r>
            <a:endParaRPr lang="en-US" sz="1400" dirty="0"/>
          </a:p>
        </p:txBody>
      </p:sp>
      <p:sp>
        <p:nvSpPr>
          <p:cNvPr id="41" name="Rounded Rectangle"/>
          <p:cNvSpPr/>
          <p:nvPr/>
        </p:nvSpPr>
        <p:spPr>
          <a:xfrm>
            <a:off x="6356815" y="28043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42" name="Text: وَالْعَيْنُ"/>
          <p:cNvSpPr txBox="1"/>
          <p:nvPr/>
        </p:nvSpPr>
        <p:spPr>
          <a:xfrm>
            <a:off x="6593979" y="2792028"/>
            <a:ext cx="365423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وَالْعَيْنُ</a:t>
            </a:r>
            <a:endParaRPr lang="en-US" sz="1500" dirty="0"/>
          </a:p>
        </p:txBody>
      </p:sp>
      <p:sp>
        <p:nvSpPr>
          <p:cNvPr id="43" name="Rounded Rectangle"/>
          <p:cNvSpPr/>
          <p:nvPr/>
        </p:nvSpPr>
        <p:spPr>
          <a:xfrm>
            <a:off x="5454718" y="2804343"/>
            <a:ext cx="839812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44" name="Text: أَصْدَقُ"/>
          <p:cNvSpPr txBox="1"/>
          <p:nvPr/>
        </p:nvSpPr>
        <p:spPr>
          <a:xfrm>
            <a:off x="5675511" y="2792028"/>
            <a:ext cx="398165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أَصْدَقُ</a:t>
            </a:r>
            <a:endParaRPr lang="en-US" sz="1500" dirty="0"/>
          </a:p>
        </p:txBody>
      </p:sp>
      <p:sp>
        <p:nvSpPr>
          <p:cNvPr id="45" name="Rounded Rectangle"/>
          <p:cNvSpPr/>
          <p:nvPr/>
        </p:nvSpPr>
        <p:spPr>
          <a:xfrm>
            <a:off x="4552621" y="28043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46" name="Text: أَنْبَاءً"/>
          <p:cNvSpPr txBox="1"/>
          <p:nvPr/>
        </p:nvSpPr>
        <p:spPr>
          <a:xfrm>
            <a:off x="4850011" y="2792028"/>
            <a:ext cx="245021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أَنْبَاءً</a:t>
            </a:r>
            <a:endParaRPr lang="en-US" sz="1500" dirty="0"/>
          </a:p>
        </p:txBody>
      </p:sp>
      <p:sp>
        <p:nvSpPr>
          <p:cNvPr id="47" name="Rounded Rectangle"/>
          <p:cNvSpPr/>
          <p:nvPr/>
        </p:nvSpPr>
        <p:spPr>
          <a:xfrm>
            <a:off x="3650574" y="28043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48" name="Text: مِنَ الْأُذُنِ"/>
          <p:cNvSpPr txBox="1"/>
          <p:nvPr/>
        </p:nvSpPr>
        <p:spPr>
          <a:xfrm>
            <a:off x="3768080" y="2792028"/>
            <a:ext cx="604788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مِنَ الْأُذُنِ</a:t>
            </a:r>
            <a:endParaRPr lang="en-US" sz="1500" dirty="0"/>
          </a:p>
        </p:txBody>
      </p:sp>
      <p:sp>
        <p:nvSpPr>
          <p:cNvPr id="49" name="Rounded Rectangle"/>
          <p:cNvSpPr/>
          <p:nvPr/>
        </p:nvSpPr>
        <p:spPr>
          <a:xfrm>
            <a:off x="3467050" y="3418477"/>
            <a:ext cx="8026436" cy="957250"/>
          </a:xfrm>
          <a:prstGeom prst="roundRect">
            <a:avLst>
              <a:gd name="adj" fmla="val 14594"/>
            </a:avLst>
          </a:prstGeom>
          <a:solidFill>
            <a:srgbClr val="FFFDF5"/>
          </a:solidFill>
          <a:ln>
            <a:noFill/>
          </a:ln>
          <a:effectLst>
            <a:outerShdw blurRad="190500" dist="8890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50" name="Text: البيت الثاني"/>
          <p:cNvSpPr txBox="1"/>
          <p:nvPr/>
        </p:nvSpPr>
        <p:spPr>
          <a:xfrm>
            <a:off x="10466784" y="3785766"/>
            <a:ext cx="848965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البيت</a:t>
            </a:r>
            <a:br>
              <a:rPr lang="en-US" sz="1300"/>
            </a:b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الثاني</a:t>
            </a:r>
            <a:endParaRPr lang="en-US" sz="1300" dirty="0"/>
          </a:p>
        </p:txBody>
      </p:sp>
      <p:sp>
        <p:nvSpPr>
          <p:cNvPr id="51" name="Rounded Rectangle"/>
          <p:cNvSpPr/>
          <p:nvPr/>
        </p:nvSpPr>
        <p:spPr>
          <a:xfrm>
            <a:off x="6415651" y="3538500"/>
            <a:ext cx="535661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52" name="Text: الصدر"/>
          <p:cNvSpPr txBox="1"/>
          <p:nvPr/>
        </p:nvSpPr>
        <p:spPr>
          <a:xfrm>
            <a:off x="6510338" y="3559522"/>
            <a:ext cx="34632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الصدر</a:t>
            </a:r>
            <a:endParaRPr lang="en-US" sz="1050" dirty="0"/>
          </a:p>
        </p:txBody>
      </p:sp>
      <p:sp>
        <p:nvSpPr>
          <p:cNvPr id="53" name="Rounded Rectangle"/>
          <p:cNvSpPr/>
          <p:nvPr/>
        </p:nvSpPr>
        <p:spPr>
          <a:xfrm>
            <a:off x="5802678" y="3538500"/>
            <a:ext cx="512570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54" name="Text: العجز"/>
          <p:cNvSpPr txBox="1"/>
          <p:nvPr/>
        </p:nvSpPr>
        <p:spPr>
          <a:xfrm>
            <a:off x="5897314" y="3559522"/>
            <a:ext cx="32330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العجز</a:t>
            </a:r>
            <a:endParaRPr lang="en-US" sz="1050" dirty="0"/>
          </a:p>
        </p:txBody>
      </p:sp>
      <p:sp>
        <p:nvSpPr>
          <p:cNvPr id="55" name="Rounded Rectangle"/>
          <p:cNvSpPr/>
          <p:nvPr/>
        </p:nvSpPr>
        <p:spPr>
          <a:xfrm>
            <a:off x="5021777" y="3538500"/>
            <a:ext cx="680460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56" name="Text: العَروض"/>
          <p:cNvSpPr txBox="1"/>
          <p:nvPr/>
        </p:nvSpPr>
        <p:spPr>
          <a:xfrm>
            <a:off x="5116463" y="3559522"/>
            <a:ext cx="491133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050" dirty="0"/>
          </a:p>
        </p:txBody>
      </p:sp>
      <p:sp>
        <p:nvSpPr>
          <p:cNvPr id="57" name="Rounded Rectangle"/>
          <p:cNvSpPr/>
          <p:nvPr/>
        </p:nvSpPr>
        <p:spPr>
          <a:xfrm>
            <a:off x="4332256" y="3538500"/>
            <a:ext cx="589119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58" name="Text: الضرب"/>
          <p:cNvSpPr txBox="1"/>
          <p:nvPr/>
        </p:nvSpPr>
        <p:spPr>
          <a:xfrm>
            <a:off x="4426893" y="3559522"/>
            <a:ext cx="399852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الضرب</a:t>
            </a:r>
            <a:endParaRPr lang="en-US" sz="1050" dirty="0"/>
          </a:p>
        </p:txBody>
      </p:sp>
      <p:sp>
        <p:nvSpPr>
          <p:cNvPr id="59" name="Rounded Rectangle"/>
          <p:cNvSpPr/>
          <p:nvPr/>
        </p:nvSpPr>
        <p:spPr>
          <a:xfrm>
            <a:off x="3650574" y="3538500"/>
            <a:ext cx="581241" cy="249610"/>
          </a:xfrm>
          <a:prstGeom prst="roundRect">
            <a:avLst>
              <a:gd name="adj" fmla="val 50000"/>
            </a:avLst>
          </a:prstGeom>
          <a:noFill/>
          <a:ln w="11545" cap="flat" cmpd="sng" algn="ctr">
            <a:solidFill>
              <a:srgbClr val="E9DCC0"/>
            </a:solidFill>
            <a:prstDash val="dash"/>
            <a:miter lim="800000"/>
          </a:ln>
        </p:spPr>
      </p:sp>
      <p:sp>
        <p:nvSpPr>
          <p:cNvPr id="60" name="Text: الحشو"/>
          <p:cNvSpPr txBox="1"/>
          <p:nvPr/>
        </p:nvSpPr>
        <p:spPr>
          <a:xfrm>
            <a:off x="3745260" y="3559522"/>
            <a:ext cx="391914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الحشو</a:t>
            </a:r>
            <a:endParaRPr lang="en-US" sz="1050" dirty="0"/>
          </a:p>
        </p:txBody>
      </p:sp>
      <p:sp>
        <p:nvSpPr>
          <p:cNvPr id="61" name="Rounded Rectangle"/>
          <p:cNvSpPr/>
          <p:nvPr/>
        </p:nvSpPr>
        <p:spPr>
          <a:xfrm>
            <a:off x="10408710" y="3875843"/>
            <a:ext cx="90126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62" name="Text: تَأْتِي"/>
          <p:cNvSpPr txBox="1"/>
          <p:nvPr/>
        </p:nvSpPr>
        <p:spPr>
          <a:xfrm>
            <a:off x="10732145" y="3863532"/>
            <a:ext cx="254397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تَأْتِي</a:t>
            </a:r>
            <a:endParaRPr lang="en-US" sz="1500" dirty="0"/>
          </a:p>
        </p:txBody>
      </p:sp>
      <p:sp>
        <p:nvSpPr>
          <p:cNvPr id="63" name="Rounded Rectangle"/>
          <p:cNvSpPr/>
          <p:nvPr/>
        </p:nvSpPr>
        <p:spPr>
          <a:xfrm>
            <a:off x="9445097" y="38758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64" name="Text: السَّلَامَةُ"/>
          <p:cNvSpPr txBox="1"/>
          <p:nvPr/>
        </p:nvSpPr>
        <p:spPr>
          <a:xfrm>
            <a:off x="9665295" y="3863532"/>
            <a:ext cx="460871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السَّلَامَةُ</a:t>
            </a:r>
            <a:endParaRPr lang="en-US" sz="1500" dirty="0"/>
          </a:p>
        </p:txBody>
      </p:sp>
      <p:sp>
        <p:nvSpPr>
          <p:cNvPr id="65" name="Rounded Rectangle"/>
          <p:cNvSpPr/>
          <p:nvPr/>
        </p:nvSpPr>
        <p:spPr>
          <a:xfrm>
            <a:off x="8481485" y="38758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66" name="Text: وَالْأَسْوَاءُ"/>
          <p:cNvSpPr txBox="1"/>
          <p:nvPr/>
        </p:nvSpPr>
        <p:spPr>
          <a:xfrm>
            <a:off x="8668246" y="3863532"/>
            <a:ext cx="527695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وَالْأَسْوَاءُ</a:t>
            </a:r>
            <a:endParaRPr lang="en-US" sz="1500" dirty="0"/>
          </a:p>
        </p:txBody>
      </p:sp>
      <p:sp>
        <p:nvSpPr>
          <p:cNvPr id="67" name="Rounded Rectangle"/>
          <p:cNvSpPr/>
          <p:nvPr/>
        </p:nvSpPr>
        <p:spPr>
          <a:xfrm>
            <a:off x="7517823" y="3875843"/>
            <a:ext cx="901327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68" name="Text: مُحْدِقَةٌ"/>
          <p:cNvSpPr txBox="1"/>
          <p:nvPr/>
        </p:nvSpPr>
        <p:spPr>
          <a:xfrm>
            <a:off x="7801769" y="3863532"/>
            <a:ext cx="333375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مُحْدِقَةٌ</a:t>
            </a:r>
            <a:endParaRPr lang="en-US" sz="1500" dirty="0"/>
          </a:p>
        </p:txBody>
      </p:sp>
      <p:sp>
        <p:nvSpPr>
          <p:cNvPr id="69" name="Text: ❋"/>
          <p:cNvSpPr txBox="1"/>
          <p:nvPr/>
        </p:nvSpPr>
        <p:spPr>
          <a:xfrm>
            <a:off x="7291139" y="3919727"/>
            <a:ext cx="15741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D99A1E"/>
                </a:solidFill>
                <a:latin typeface="Tajawal"/>
                <a:ea typeface="Tajawal"/>
                <a:cs typeface="Tajawal"/>
              </a:rPr>
              <a:t>❋</a:t>
            </a:r>
            <a:endParaRPr lang="en-US" sz="1400" dirty="0"/>
          </a:p>
        </p:txBody>
      </p:sp>
      <p:sp>
        <p:nvSpPr>
          <p:cNvPr id="70" name="Rounded Rectangle"/>
          <p:cNvSpPr/>
          <p:nvPr/>
        </p:nvSpPr>
        <p:spPr>
          <a:xfrm>
            <a:off x="6356815" y="38758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71" name="Text: وَيَهْلِكُ"/>
          <p:cNvSpPr txBox="1"/>
          <p:nvPr/>
        </p:nvSpPr>
        <p:spPr>
          <a:xfrm>
            <a:off x="6583660" y="3863532"/>
            <a:ext cx="386011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وَيَهْلِكُ</a:t>
            </a:r>
            <a:endParaRPr lang="en-US" sz="1500" dirty="0"/>
          </a:p>
        </p:txBody>
      </p:sp>
      <p:sp>
        <p:nvSpPr>
          <p:cNvPr id="72" name="Rounded Rectangle"/>
          <p:cNvSpPr/>
          <p:nvPr/>
        </p:nvSpPr>
        <p:spPr>
          <a:xfrm>
            <a:off x="5454718" y="3875843"/>
            <a:ext cx="839812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73" name="Text: الْمَرْءُ"/>
          <p:cNvSpPr txBox="1"/>
          <p:nvPr/>
        </p:nvSpPr>
        <p:spPr>
          <a:xfrm>
            <a:off x="5738168" y="3863532"/>
            <a:ext cx="272802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الْمَرْءُ</a:t>
            </a:r>
            <a:endParaRPr lang="en-US" sz="1500" dirty="0"/>
          </a:p>
        </p:txBody>
      </p:sp>
      <p:sp>
        <p:nvSpPr>
          <p:cNvPr id="74" name="Rounded Rectangle"/>
          <p:cNvSpPr/>
          <p:nvPr/>
        </p:nvSpPr>
        <p:spPr>
          <a:xfrm>
            <a:off x="4552621" y="38758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75" name="Text: وَالْأَسْوَاءُ"/>
          <p:cNvSpPr txBox="1"/>
          <p:nvPr/>
        </p:nvSpPr>
        <p:spPr>
          <a:xfrm>
            <a:off x="4708624" y="3863532"/>
            <a:ext cx="527745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وَالْأَسْوَاءُ</a:t>
            </a:r>
            <a:endParaRPr lang="en-US" sz="1500" dirty="0"/>
          </a:p>
        </p:txBody>
      </p:sp>
      <p:sp>
        <p:nvSpPr>
          <p:cNvPr id="76" name="Rounded Rectangle"/>
          <p:cNvSpPr/>
          <p:nvPr/>
        </p:nvSpPr>
        <p:spPr>
          <a:xfrm>
            <a:off x="3650574" y="3875843"/>
            <a:ext cx="839751" cy="379857"/>
          </a:xfrm>
          <a:prstGeom prst="roundRect">
            <a:avLst>
              <a:gd name="adj" fmla="val 18540"/>
            </a:avLst>
          </a:prstGeom>
          <a:solidFill>
            <a:srgbClr val="FFFFFF"/>
          </a:solidFill>
          <a:ln w="11545" cap="flat" cmpd="sng" algn="ctr">
            <a:solidFill>
              <a:srgbClr val="E9DCC0"/>
            </a:solidFill>
            <a:miter lim="800000"/>
          </a:ln>
        </p:spPr>
      </p:sp>
      <p:sp>
        <p:nvSpPr>
          <p:cNvPr id="77" name="Text: لَمْ تَكُنِ"/>
          <p:cNvSpPr txBox="1"/>
          <p:nvPr/>
        </p:nvSpPr>
        <p:spPr>
          <a:xfrm>
            <a:off x="3841502" y="3863532"/>
            <a:ext cx="457845" cy="368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لَمْ تَكُنِ</a:t>
            </a:r>
            <a:endParaRPr lang="en-US" sz="1500" dirty="0"/>
          </a:p>
        </p:txBody>
      </p:sp>
      <p:sp>
        <p:nvSpPr>
          <p:cNvPr id="78" name="Rounded Rectangle"/>
          <p:cNvSpPr/>
          <p:nvPr/>
        </p:nvSpPr>
        <p:spPr>
          <a:xfrm>
            <a:off x="3467050" y="4489980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9" name="Border"/>
          <p:cNvSpPr/>
          <p:nvPr/>
        </p:nvSpPr>
        <p:spPr>
          <a:xfrm>
            <a:off x="11431910" y="4489980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0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45910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81" name="Text: ملاحظة: للشاعر العُماني أبي مسلم البهلان"/>
          <p:cNvSpPr txBox="1"/>
          <p:nvPr/>
        </p:nvSpPr>
        <p:spPr>
          <a:xfrm>
            <a:off x="5313065" y="4835559"/>
            <a:ext cx="5699820" cy="267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للشاعر العُماني</a:t>
            </a:r>
            <a:endParaRPr lang="en-US" sz="1400" dirty="0"/>
          </a:p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أبي مسلم البهلاني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(شاعر القطرين)، من بحر البسيط.</a:t>
            </a:r>
            <a:endParaRPr lang="en-US" sz="1400" dirty="0"/>
          </a:p>
        </p:txBody>
      </p:sp>
      <p:pic>
        <p:nvPicPr>
          <p:cNvPr id="82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775" y="61150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83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3876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84" name="Text: أساسيات في علم العروض · أ. أسماء الحارثي"/>
          <p:cNvSpPr txBox="1"/>
          <p:nvPr/>
        </p:nvSpPr>
        <p:spPr>
          <a:xfrm>
            <a:off x="8909844" y="6499383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85" name="Text: ٨ / ١٤"/>
          <p:cNvSpPr txBox="1"/>
          <p:nvPr/>
        </p:nvSpPr>
        <p:spPr>
          <a:xfrm>
            <a:off x="698500" y="6716629"/>
            <a:ext cx="282972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٨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خاتمة البيت"/>
          <p:cNvSpPr txBox="1"/>
          <p:nvPr/>
        </p:nvSpPr>
        <p:spPr>
          <a:xfrm>
            <a:off x="10495012" y="316756"/>
            <a:ext cx="83343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خاتمة البيت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القافية والرَّوِيّ"/>
          <p:cNvSpPr txBox="1"/>
          <p:nvPr/>
        </p:nvSpPr>
        <p:spPr>
          <a:xfrm>
            <a:off x="9569450" y="679207"/>
            <a:ext cx="1924050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القافية والرَّوِيّ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3924312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3924312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40195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لا يكون الروي في الغالب حرفَ مدٍ"/>
          <p:cNvSpPr txBox="1"/>
          <p:nvPr/>
        </p:nvSpPr>
        <p:spPr>
          <a:xfrm>
            <a:off x="7046863" y="4269904"/>
            <a:ext cx="3966021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لا يكون الروي في الغالب حرفَ مدٍّ ولا هاءً زائدة.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136650"/>
            <a:ext cx="8293100" cy="290830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7"/>
            <a:ext cx="19002" cy="2641744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603679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244902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3294366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الرَّويّ : الحرف الذي تُبنى عليه القصيدة"/>
          <p:cNvSpPr txBox="1"/>
          <p:nvPr/>
        </p:nvSpPr>
        <p:spPr>
          <a:xfrm>
            <a:off x="6098282" y="1604342"/>
            <a:ext cx="4734868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الرَّويّ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: الحرف الذي تُبنى عليه القصيدة، ويتكرر في آخر كل أبياتها.</a:t>
            </a:r>
            <a:endParaRPr lang="en-US" sz="1500" dirty="0"/>
          </a:p>
        </p:txBody>
      </p:sp>
      <p:sp>
        <p:nvSpPr>
          <p:cNvPr id="16" name="Text: وإليه تُنسب القصيدة:"/>
          <p:cNvSpPr txBox="1"/>
          <p:nvPr/>
        </p:nvSpPr>
        <p:spPr>
          <a:xfrm>
            <a:off x="9191625" y="1596653"/>
            <a:ext cx="164152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وإليه تُنسب القصيدة:</a:t>
            </a:r>
            <a:endParaRPr lang="en-US" sz="1500" dirty="0"/>
          </a:p>
        </p:txBody>
      </p:sp>
      <p:sp>
        <p:nvSpPr>
          <p:cNvPr id="17" name="Rounded Rectangle"/>
          <p:cNvSpPr/>
          <p:nvPr/>
        </p:nvSpPr>
        <p:spPr>
          <a:xfrm>
            <a:off x="8554747" y="1992673"/>
            <a:ext cx="2270666" cy="548710"/>
          </a:xfrm>
          <a:prstGeom prst="roundRect">
            <a:avLst>
              <a:gd name="adj" fmla="val 21742"/>
            </a:avLst>
          </a:prstGeom>
          <a:solidFill>
            <a:srgbClr val="FFFFFF"/>
          </a:solidFill>
          <a:ln w="15394" cap="flat" cmpd="sng" algn="ctr">
            <a:solidFill>
              <a:srgbClr val="E9DCC0"/>
            </a:solidFill>
            <a:miter lim="800000"/>
          </a:ln>
          <a:effectLst>
            <a:outerShdw blurRad="88900" dist="38100" dir="5400000" sx="100000" sy="100000" algn="ctr" rotWithShape="0">
              <a:srgbClr val="2A2233">
                <a:alpha val="8000"/>
              </a:srgbClr>
            </a:outerShdw>
          </a:effectLst>
        </p:spPr>
      </p:sp>
      <p:sp>
        <p:nvSpPr>
          <p:cNvPr id="18" name="Ellipse"/>
          <p:cNvSpPr/>
          <p:nvPr/>
        </p:nvSpPr>
        <p:spPr>
          <a:xfrm>
            <a:off x="9763373" y="2038437"/>
            <a:ext cx="457188" cy="457188"/>
          </a:xfrm>
          <a:prstGeom prst="ellipse">
            <a:avLst/>
          </a:prstGeom>
          <a:solidFill>
            <a:srgbClr val="24305E"/>
          </a:solidFill>
          <a:ln>
            <a:noFill/>
          </a:ln>
        </p:spPr>
      </p:sp>
      <p:sp>
        <p:nvSpPr>
          <p:cNvPr id="19" name="Text: ل"/>
          <p:cNvSpPr txBox="1"/>
          <p:nvPr/>
        </p:nvSpPr>
        <p:spPr>
          <a:xfrm>
            <a:off x="9903916" y="2229079"/>
            <a:ext cx="176163" cy="292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spc="-4" dirty="0">
                <a:solidFill>
                  <a:srgbClr val="F8E2A6"/>
                </a:solidFill>
                <a:latin typeface="Amiri"/>
                <a:ea typeface="Amiri"/>
                <a:cs typeface="Amiri"/>
              </a:rPr>
              <a:t>ل</a:t>
            </a:r>
            <a:endParaRPr lang="en-US" sz="2300" dirty="0"/>
          </a:p>
        </p:txBody>
      </p:sp>
      <p:sp>
        <p:nvSpPr>
          <p:cNvPr id="20" name="Text: لاميّة"/>
          <p:cNvSpPr txBox="1"/>
          <p:nvPr/>
        </p:nvSpPr>
        <p:spPr>
          <a:xfrm>
            <a:off x="9159627" y="2121551"/>
            <a:ext cx="48949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لاميّة</a:t>
            </a:r>
            <a:endParaRPr lang="en-US" sz="1700" dirty="0"/>
          </a:p>
        </p:txBody>
      </p:sp>
      <p:sp>
        <p:nvSpPr>
          <p:cNvPr id="21" name="Rounded Rectangle"/>
          <p:cNvSpPr/>
          <p:nvPr/>
        </p:nvSpPr>
        <p:spPr>
          <a:xfrm>
            <a:off x="6154447" y="1992673"/>
            <a:ext cx="2270666" cy="548710"/>
          </a:xfrm>
          <a:prstGeom prst="roundRect">
            <a:avLst>
              <a:gd name="adj" fmla="val 21742"/>
            </a:avLst>
          </a:prstGeom>
          <a:solidFill>
            <a:srgbClr val="FFFFFF"/>
          </a:solidFill>
          <a:ln w="15394" cap="flat" cmpd="sng" algn="ctr">
            <a:solidFill>
              <a:srgbClr val="E9DCC0"/>
            </a:solidFill>
            <a:miter lim="800000"/>
          </a:ln>
          <a:effectLst>
            <a:outerShdw blurRad="88900" dist="38100" dir="5400000" sx="100000" sy="100000" algn="ctr" rotWithShape="0">
              <a:srgbClr val="2A2233">
                <a:alpha val="8000"/>
              </a:srgbClr>
            </a:outerShdw>
          </a:effectLst>
        </p:spPr>
      </p:sp>
      <p:sp>
        <p:nvSpPr>
          <p:cNvPr id="22" name="Ellipse"/>
          <p:cNvSpPr/>
          <p:nvPr/>
        </p:nvSpPr>
        <p:spPr>
          <a:xfrm>
            <a:off x="7346603" y="2038437"/>
            <a:ext cx="457188" cy="457188"/>
          </a:xfrm>
          <a:prstGeom prst="ellipse">
            <a:avLst/>
          </a:prstGeom>
          <a:solidFill>
            <a:srgbClr val="24305E"/>
          </a:solidFill>
          <a:ln>
            <a:noFill/>
          </a:ln>
        </p:spPr>
      </p:sp>
      <p:sp>
        <p:nvSpPr>
          <p:cNvPr id="23" name="Text: د"/>
          <p:cNvSpPr txBox="1"/>
          <p:nvPr/>
        </p:nvSpPr>
        <p:spPr>
          <a:xfrm>
            <a:off x="7509470" y="2229079"/>
            <a:ext cx="131465" cy="292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spc="-4" dirty="0">
                <a:solidFill>
                  <a:srgbClr val="F8E2A6"/>
                </a:solidFill>
                <a:latin typeface="Amiri"/>
                <a:ea typeface="Amiri"/>
                <a:cs typeface="Amiri"/>
              </a:rPr>
              <a:t>د</a:t>
            </a:r>
            <a:endParaRPr lang="en-US" sz="2300" dirty="0"/>
          </a:p>
        </p:txBody>
      </p:sp>
      <p:sp>
        <p:nvSpPr>
          <p:cNvPr id="24" name="Text: داليّة"/>
          <p:cNvSpPr txBox="1"/>
          <p:nvPr/>
        </p:nvSpPr>
        <p:spPr>
          <a:xfrm>
            <a:off x="6775847" y="2121551"/>
            <a:ext cx="45650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داليّة</a:t>
            </a:r>
            <a:endParaRPr lang="en-US" sz="1700" dirty="0"/>
          </a:p>
        </p:txBody>
      </p:sp>
      <p:sp>
        <p:nvSpPr>
          <p:cNvPr id="25" name="Rounded Rectangle"/>
          <p:cNvSpPr/>
          <p:nvPr/>
        </p:nvSpPr>
        <p:spPr>
          <a:xfrm>
            <a:off x="3754147" y="1992673"/>
            <a:ext cx="2270666" cy="548710"/>
          </a:xfrm>
          <a:prstGeom prst="roundRect">
            <a:avLst>
              <a:gd name="adj" fmla="val 21742"/>
            </a:avLst>
          </a:prstGeom>
          <a:solidFill>
            <a:srgbClr val="FFFFFF"/>
          </a:solidFill>
          <a:ln w="15394" cap="flat" cmpd="sng" algn="ctr">
            <a:solidFill>
              <a:srgbClr val="E9DCC0"/>
            </a:solidFill>
            <a:miter lim="800000"/>
          </a:ln>
          <a:effectLst>
            <a:outerShdw blurRad="88900" dist="38100" dir="5400000" sx="100000" sy="100000" algn="ctr" rotWithShape="0">
              <a:srgbClr val="2A2233">
                <a:alpha val="8000"/>
              </a:srgbClr>
            </a:outerShdw>
          </a:effectLst>
        </p:spPr>
      </p:sp>
      <p:sp>
        <p:nvSpPr>
          <p:cNvPr id="26" name="Ellipse"/>
          <p:cNvSpPr/>
          <p:nvPr/>
        </p:nvSpPr>
        <p:spPr>
          <a:xfrm>
            <a:off x="5001518" y="2038437"/>
            <a:ext cx="457188" cy="457188"/>
          </a:xfrm>
          <a:prstGeom prst="ellipse">
            <a:avLst/>
          </a:prstGeom>
          <a:solidFill>
            <a:srgbClr val="24305E"/>
          </a:solidFill>
          <a:ln>
            <a:noFill/>
          </a:ln>
        </p:spPr>
      </p:sp>
      <p:sp>
        <p:nvSpPr>
          <p:cNvPr id="27" name="Text: م"/>
          <p:cNvSpPr txBox="1"/>
          <p:nvPr/>
        </p:nvSpPr>
        <p:spPr>
          <a:xfrm>
            <a:off x="5164138" y="2229079"/>
            <a:ext cx="132060" cy="292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spc="-4" dirty="0">
                <a:solidFill>
                  <a:srgbClr val="F8E2A6"/>
                </a:solidFill>
                <a:latin typeface="Amiri"/>
                <a:ea typeface="Amiri"/>
                <a:cs typeface="Amiri"/>
              </a:rPr>
              <a:t>م</a:t>
            </a:r>
            <a:endParaRPr lang="en-US" sz="2300" dirty="0"/>
          </a:p>
        </p:txBody>
      </p:sp>
      <p:sp>
        <p:nvSpPr>
          <p:cNvPr id="28" name="Text: ميميّة"/>
          <p:cNvSpPr txBox="1"/>
          <p:nvPr/>
        </p:nvSpPr>
        <p:spPr>
          <a:xfrm>
            <a:off x="4320282" y="2121551"/>
            <a:ext cx="56698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ميميّة</a:t>
            </a:r>
            <a:endParaRPr lang="en-US" sz="1700" dirty="0"/>
          </a:p>
        </p:txBody>
      </p:sp>
      <p:pic>
        <p:nvPicPr>
          <p:cNvPr id="29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30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31" name="Rounded Rectangle"/>
          <p:cNvSpPr/>
          <p:nvPr/>
        </p:nvSpPr>
        <p:spPr>
          <a:xfrm>
            <a:off x="698500" y="4495757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32" name="Rounded Rectangle"/>
          <p:cNvSpPr/>
          <p:nvPr/>
        </p:nvSpPr>
        <p:spPr>
          <a:xfrm>
            <a:off x="10101808" y="4635444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33" name="Text: نشاط تفاعلي"/>
          <p:cNvSpPr txBox="1"/>
          <p:nvPr/>
        </p:nvSpPr>
        <p:spPr>
          <a:xfrm>
            <a:off x="10216059" y="4668118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34" name="Text: استمعي لآخر البيت، ثم سمّي القصيدة"/>
          <p:cNvSpPr txBox="1"/>
          <p:nvPr/>
        </p:nvSpPr>
        <p:spPr>
          <a:xfrm>
            <a:off x="6865441" y="4640070"/>
            <a:ext cx="3122116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استمعي لآخر البيت، ثم سمّي القصيدة</a:t>
            </a:r>
            <a:endParaRPr lang="en-US" sz="1500" dirty="0"/>
          </a:p>
        </p:txBody>
      </p:sp>
      <p:sp>
        <p:nvSpPr>
          <p:cNvPr id="35" name="Rounded Rectangle"/>
          <p:cNvSpPr/>
          <p:nvPr/>
        </p:nvSpPr>
        <p:spPr>
          <a:xfrm>
            <a:off x="6177973" y="5047468"/>
            <a:ext cx="5055766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36" name="Text: «… فأنتَ بالنفسِ لا بالجسمِ إنسانُ» القص"/>
          <p:cNvSpPr txBox="1"/>
          <p:nvPr/>
        </p:nvSpPr>
        <p:spPr>
          <a:xfrm>
            <a:off x="7576046" y="5274852"/>
            <a:ext cx="3524895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«… فأنتَ بالنفسِ لا بالجسمِ إنسانُ» القصيدة:</a:t>
            </a:r>
            <a:endParaRPr lang="en-US" sz="1400" dirty="0"/>
          </a:p>
        </p:txBody>
      </p:sp>
      <p:sp>
        <p:nvSpPr>
          <p:cNvPr id="37" name="Rounded Rectangle"/>
          <p:cNvSpPr/>
          <p:nvPr/>
        </p:nvSpPr>
        <p:spPr>
          <a:xfrm>
            <a:off x="10403780" y="5593593"/>
            <a:ext cx="697177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38" name="Text: لامية"/>
          <p:cNvSpPr txBox="1"/>
          <p:nvPr/>
        </p:nvSpPr>
        <p:spPr>
          <a:xfrm>
            <a:off x="10556180" y="5664777"/>
            <a:ext cx="39241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لامية</a:t>
            </a:r>
            <a:endParaRPr lang="en-US" sz="1400" dirty="0"/>
          </a:p>
        </p:txBody>
      </p:sp>
      <p:sp>
        <p:nvSpPr>
          <p:cNvPr id="39" name="Rounded Rectangle"/>
          <p:cNvSpPr/>
          <p:nvPr/>
        </p:nvSpPr>
        <p:spPr>
          <a:xfrm>
            <a:off x="9639498" y="5593593"/>
            <a:ext cx="688097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0" name="Text: نونية"/>
          <p:cNvSpPr txBox="1"/>
          <p:nvPr/>
        </p:nvSpPr>
        <p:spPr>
          <a:xfrm>
            <a:off x="9791898" y="5664777"/>
            <a:ext cx="38333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نونية</a:t>
            </a:r>
            <a:endParaRPr lang="en-US" sz="1400" dirty="0"/>
          </a:p>
        </p:txBody>
      </p:sp>
      <p:sp>
        <p:nvSpPr>
          <p:cNvPr id="41" name="Rounded Rectangle"/>
          <p:cNvSpPr/>
          <p:nvPr/>
        </p:nvSpPr>
        <p:spPr>
          <a:xfrm>
            <a:off x="8772624" y="5593593"/>
            <a:ext cx="790683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2" name="Text: سينية"/>
          <p:cNvSpPr txBox="1"/>
          <p:nvPr/>
        </p:nvSpPr>
        <p:spPr>
          <a:xfrm>
            <a:off x="8925024" y="5664777"/>
            <a:ext cx="48592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سينية</a:t>
            </a:r>
            <a:endParaRPr lang="en-US" sz="1400" dirty="0"/>
          </a:p>
        </p:txBody>
      </p:sp>
      <p:sp>
        <p:nvSpPr>
          <p:cNvPr id="43" name="Rounded Rectangle"/>
          <p:cNvSpPr/>
          <p:nvPr/>
        </p:nvSpPr>
        <p:spPr>
          <a:xfrm>
            <a:off x="958273" y="5047468"/>
            <a:ext cx="5055766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44" name="Text: «… إذا حال من دون النجوم سحابُ» القصيدة:"/>
          <p:cNvSpPr txBox="1"/>
          <p:nvPr/>
        </p:nvSpPr>
        <p:spPr>
          <a:xfrm>
            <a:off x="2482404" y="5274852"/>
            <a:ext cx="3398887" cy="2400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«… إذا حال من دون النجوم سحابُ» القصيدة:</a:t>
            </a:r>
            <a:endParaRPr lang="en-US" sz="1400" dirty="0"/>
          </a:p>
        </p:txBody>
      </p:sp>
      <p:sp>
        <p:nvSpPr>
          <p:cNvPr id="45" name="Rounded Rectangle"/>
          <p:cNvSpPr/>
          <p:nvPr/>
        </p:nvSpPr>
        <p:spPr>
          <a:xfrm>
            <a:off x="5227985" y="5593593"/>
            <a:ext cx="653280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6" name="Text: بائية"/>
          <p:cNvSpPr txBox="1"/>
          <p:nvPr/>
        </p:nvSpPr>
        <p:spPr>
          <a:xfrm>
            <a:off x="5380385" y="5664777"/>
            <a:ext cx="348506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بائية</a:t>
            </a:r>
            <a:endParaRPr lang="en-US" sz="1400" dirty="0"/>
          </a:p>
        </p:txBody>
      </p:sp>
      <p:sp>
        <p:nvSpPr>
          <p:cNvPr id="47" name="Rounded Rectangle"/>
          <p:cNvSpPr/>
          <p:nvPr/>
        </p:nvSpPr>
        <p:spPr>
          <a:xfrm>
            <a:off x="4456559" y="5593593"/>
            <a:ext cx="695253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8" name="Text: حائية"/>
          <p:cNvSpPr txBox="1"/>
          <p:nvPr/>
        </p:nvSpPr>
        <p:spPr>
          <a:xfrm>
            <a:off x="4608909" y="5664777"/>
            <a:ext cx="39052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حائية</a:t>
            </a:r>
            <a:endParaRPr lang="en-US" sz="1400" dirty="0"/>
          </a:p>
        </p:txBody>
      </p:sp>
      <p:sp>
        <p:nvSpPr>
          <p:cNvPr id="49" name="Rounded Rectangle"/>
          <p:cNvSpPr/>
          <p:nvPr/>
        </p:nvSpPr>
        <p:spPr>
          <a:xfrm>
            <a:off x="3618954" y="5593593"/>
            <a:ext cx="761399" cy="419064"/>
          </a:xfrm>
          <a:prstGeom prst="roundRect">
            <a:avLst>
              <a:gd name="adj" fmla="val 24245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50" name="Text: ميمية"/>
          <p:cNvSpPr txBox="1"/>
          <p:nvPr/>
        </p:nvSpPr>
        <p:spPr>
          <a:xfrm>
            <a:off x="3771354" y="5664777"/>
            <a:ext cx="45665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ميمية</a:t>
            </a:r>
            <a:endParaRPr lang="en-US" sz="1400" dirty="0"/>
          </a:p>
        </p:txBody>
      </p:sp>
      <p:sp>
        <p:nvSpPr>
          <p:cNvPr id="51" name="Text: أساسيات في علم العروض · أ. أسماء الحارثي"/>
          <p:cNvSpPr txBox="1"/>
          <p:nvPr/>
        </p:nvSpPr>
        <p:spPr>
          <a:xfrm>
            <a:off x="8909844" y="6499386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52" name="Text: ٩ / ١٤"/>
          <p:cNvSpPr txBox="1"/>
          <p:nvPr/>
        </p:nvSpPr>
        <p:spPr>
          <a:xfrm>
            <a:off x="698500" y="6716632"/>
            <a:ext cx="271363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٩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Ellipse"/>
          <p:cNvSpPr/>
          <p:nvPr/>
        </p:nvSpPr>
        <p:spPr>
          <a:xfrm>
            <a:off x="10848544" y="383651"/>
            <a:ext cx="629588" cy="629588"/>
          </a:xfrm>
          <a:prstGeom prst="ellipse">
            <a:avLst/>
          </a:prstGeom>
          <a:noFill/>
          <a:ln w="30788" cap="flat" cmpd="sng" algn="ctr">
            <a:solidFill>
              <a:srgbClr val="D99A1E"/>
            </a:solidFill>
            <a:miter lim="800000"/>
          </a:ln>
          <a:effectLst>
            <a:outerShdw blurRad="101600" dist="38100" dir="5400000" sx="100000" sy="100000" algn="ctr" rotWithShape="0">
              <a:srgbClr val="24305E">
                <a:alpha val="18000"/>
              </a:srgbClr>
            </a:outerShdw>
          </a:effectLst>
        </p:spPr>
      </p:sp>
      <p:pic>
        <p:nvPicPr>
          <p:cNvPr id="4" name="Image: الخليل"/>
          <p:cNvPicPr>
            <a:picLocks noChangeAspect="1"/>
          </p:cNvPicPr>
          <p:nvPr/>
        </p:nvPicPr>
        <p:blipFill>
          <a:blip r:embed="rId3"/>
          <a:srcRect l="0" t="9990" r="0" b="23311"/>
          <a:stretch>
            <a:fillRect/>
          </a:stretch>
        </p:blipFill>
        <p:spPr>
          <a:xfrm>
            <a:off x="10863937" y="399044"/>
            <a:ext cx="598800" cy="598800"/>
          </a:xfrm>
          <a:prstGeom prst="ellipse">
            <a:avLst/>
          </a:prstGeom>
          <a:ln>
            <a:noFill/>
          </a:ln>
        </p:spPr>
      </p:pic>
      <p:sp>
        <p:nvSpPr>
          <p:cNvPr id="5" name="Text: أوزان الشعر"/>
          <p:cNvSpPr txBox="1"/>
          <p:nvPr/>
        </p:nvSpPr>
        <p:spPr>
          <a:xfrm>
            <a:off x="9635331" y="316756"/>
            <a:ext cx="88036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أوزان الشعر</a:t>
            </a:r>
            <a:endParaRPr lang="en-US" sz="1300" dirty="0"/>
          </a:p>
        </p:txBody>
      </p:sp>
      <p:sp>
        <p:nvSpPr>
          <p:cNvPr id="6" name="Ellipse"/>
          <p:cNvSpPr/>
          <p:nvPr/>
        </p:nvSpPr>
        <p:spPr>
          <a:xfrm>
            <a:off x="10591899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7" name="Text: البحور الستة عشر"/>
          <p:cNvSpPr txBox="1"/>
          <p:nvPr/>
        </p:nvSpPr>
        <p:spPr>
          <a:xfrm>
            <a:off x="8534797" y="679207"/>
            <a:ext cx="2145953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البحور الستة عشر</a:t>
            </a:r>
            <a:endParaRPr lang="en-US" sz="3400" dirty="0"/>
          </a:p>
        </p:txBody>
      </p:sp>
      <p:sp>
        <p:nvSpPr>
          <p:cNvPr id="8" name="Rounded Rectangle"/>
          <p:cNvSpPr/>
          <p:nvPr/>
        </p:nvSpPr>
        <p:spPr>
          <a:xfrm>
            <a:off x="6489502" y="2086483"/>
            <a:ext cx="5003992" cy="685752"/>
          </a:xfrm>
          <a:prstGeom prst="roundRect">
            <a:avLst>
              <a:gd name="adj" fmla="val 1296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9" name="Border"/>
          <p:cNvSpPr/>
          <p:nvPr/>
        </p:nvSpPr>
        <p:spPr>
          <a:xfrm>
            <a:off x="11431918" y="2086483"/>
            <a:ext cx="61576" cy="685752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10" name="Graph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9800" y="218440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11" name="Text: ملاحظة: ا س م ا ل ب ح ر ي ل مّ ح إ ل ى إ"/>
          <p:cNvSpPr txBox="1"/>
          <p:nvPr/>
        </p:nvSpPr>
        <p:spPr>
          <a:xfrm>
            <a:off x="6816179" y="2432062"/>
            <a:ext cx="4196705" cy="59053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مّ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إ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ى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إ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!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endParaRPr lang="en-US" sz="1400" dirty="0"/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400" dirty="0"/>
          </a:p>
        </p:txBody>
      </p:sp>
      <p:pic>
        <p:nvPicPr>
          <p:cNvPr id="12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350" y="1136650"/>
            <a:ext cx="5267325" cy="1079500"/>
          </a:xfrm>
          <a:prstGeom prst="rect">
            <a:avLst/>
          </a:prstGeom>
          <a:ln>
            <a:noFill/>
          </a:ln>
        </p:spPr>
      </p:pic>
      <p:sp>
        <p:nvSpPr>
          <p:cNvPr id="13" name="Rectangle"/>
          <p:cNvSpPr/>
          <p:nvPr/>
        </p:nvSpPr>
        <p:spPr>
          <a:xfrm>
            <a:off x="10991949" y="1181007"/>
            <a:ext cx="19002" cy="816600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4" name="Ellipse"/>
          <p:cNvSpPr/>
          <p:nvPr/>
        </p:nvSpPr>
        <p:spPr>
          <a:xfrm>
            <a:off x="11163399" y="1311616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11163399" y="157295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6" name="Ellipse"/>
          <p:cNvSpPr/>
          <p:nvPr/>
        </p:nvSpPr>
        <p:spPr>
          <a:xfrm>
            <a:off x="11163399" y="1834288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7" name="Text: البحر : الوزن الذي تسير عليه القصيدة."/>
          <p:cNvSpPr txBox="1"/>
          <p:nvPr/>
        </p:nvSpPr>
        <p:spPr>
          <a:xfrm>
            <a:off x="8125668" y="1578905"/>
            <a:ext cx="2834481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البحر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: الوزن الذي تسير عليه القصيدة.</a:t>
            </a:r>
            <a:endParaRPr lang="en-US" sz="1500" dirty="0"/>
          </a:p>
        </p:txBody>
      </p:sp>
      <p:sp>
        <p:nvSpPr>
          <p:cNvPr id="18" name="Text: و ض ع ا ل خ ل ي ل ١٥ ب ح رً ا ، و ز ا د "/>
          <p:cNvSpPr txBox="1"/>
          <p:nvPr/>
        </p:nvSpPr>
        <p:spPr>
          <a:xfrm>
            <a:off x="6708329" y="1876016"/>
            <a:ext cx="4251821" cy="317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ض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١٥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رً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ش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«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»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500"/>
            </a:b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١٦</a:t>
            </a:r>
            <a:br>
              <a:rPr lang="en-US" sz="1500"/>
            </a:b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500" dirty="0"/>
          </a:p>
        </p:txBody>
      </p:sp>
      <p:sp>
        <p:nvSpPr>
          <p:cNvPr id="19" name="Text: حبلٌ ممتد"/>
          <p:cNvSpPr txBox="1"/>
          <p:nvPr/>
        </p:nvSpPr>
        <p:spPr>
          <a:xfrm>
            <a:off x="5359797" y="2483681"/>
            <a:ext cx="63400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حبلٌ ممتد</a:t>
            </a:r>
            <a:endParaRPr lang="en-US" sz="1200" dirty="0"/>
          </a:p>
        </p:txBody>
      </p:sp>
      <p:sp>
        <p:nvSpPr>
          <p:cNvPr id="20" name="Rounded Rectangle"/>
          <p:cNvSpPr/>
          <p:nvPr/>
        </p:nvSpPr>
        <p:spPr>
          <a:xfrm>
            <a:off x="5053297" y="1192552"/>
            <a:ext cx="1246909" cy="1246909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23091" cap="flat" cmpd="sng" algn="ctr">
            <a:solidFill>
              <a:srgbClr val="FFFFFF"/>
            </a:solidFill>
            <a:miter lim="800000"/>
          </a:ln>
          <a:effectLst>
            <a:outerShdw blurRad="152400" dist="76200" dir="5400000" sx="100000" sy="100000" algn="ctr" rotWithShape="0">
              <a:srgbClr val="2A2233">
                <a:alpha val="16000"/>
              </a:srgbClr>
            </a:outerShdw>
          </a:effectLst>
        </p:spPr>
      </p:sp>
      <p:pic>
        <p:nvPicPr>
          <p:cNvPr id="21" name="Image: حبلٌ ممتد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869" y="1204094"/>
            <a:ext cx="1223818" cy="1223818"/>
          </a:xfrm>
          <a:prstGeom prst="roundRect">
            <a:avLst>
              <a:gd name="adj" fmla="val 10377"/>
            </a:avLst>
          </a:prstGeom>
          <a:ln>
            <a:noFill/>
          </a:ln>
        </p:spPr>
      </p:pic>
      <p:sp>
        <p:nvSpPr>
          <p:cNvPr id="22" name="Text: ريشةٌ طائرة"/>
          <p:cNvSpPr txBox="1"/>
          <p:nvPr/>
        </p:nvSpPr>
        <p:spPr>
          <a:xfrm>
            <a:off x="3840262" y="2483681"/>
            <a:ext cx="77752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ريشةٌ طائرة</a:t>
            </a:r>
            <a:endParaRPr lang="en-US" sz="1200" dirty="0"/>
          </a:p>
        </p:txBody>
      </p:sp>
      <p:sp>
        <p:nvSpPr>
          <p:cNvPr id="23" name="Rounded Rectangle"/>
          <p:cNvSpPr/>
          <p:nvPr/>
        </p:nvSpPr>
        <p:spPr>
          <a:xfrm>
            <a:off x="3605546" y="1192552"/>
            <a:ext cx="1246909" cy="1246909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23091" cap="flat" cmpd="sng" algn="ctr">
            <a:solidFill>
              <a:srgbClr val="FFFFFF"/>
            </a:solidFill>
            <a:miter lim="800000"/>
          </a:ln>
          <a:effectLst>
            <a:outerShdw blurRad="152400" dist="76200" dir="5400000" sx="100000" sy="100000" algn="ctr" rotWithShape="0">
              <a:srgbClr val="2A2233">
                <a:alpha val="16000"/>
              </a:srgbClr>
            </a:outerShdw>
          </a:effectLst>
        </p:spPr>
      </p:sp>
      <p:pic>
        <p:nvPicPr>
          <p:cNvPr id="24" name="Image: ريشةٌ طائرة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7119" y="1204094"/>
            <a:ext cx="1223818" cy="1223818"/>
          </a:xfrm>
          <a:prstGeom prst="roundRect">
            <a:avLst>
              <a:gd name="adj" fmla="val 10377"/>
            </a:avLst>
          </a:prstGeom>
          <a:ln>
            <a:noFill/>
          </a:ln>
        </p:spPr>
      </p:pic>
      <p:sp>
        <p:nvSpPr>
          <p:cNvPr id="25" name="Text: فهدٌ منطلق"/>
          <p:cNvSpPr txBox="1"/>
          <p:nvPr/>
        </p:nvSpPr>
        <p:spPr>
          <a:xfrm>
            <a:off x="2393355" y="2483681"/>
            <a:ext cx="77584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فهدٌ منطلق</a:t>
            </a:r>
            <a:endParaRPr lang="en-US" sz="1200" dirty="0"/>
          </a:p>
        </p:txBody>
      </p:sp>
      <p:sp>
        <p:nvSpPr>
          <p:cNvPr id="26" name="Rounded Rectangle"/>
          <p:cNvSpPr/>
          <p:nvPr/>
        </p:nvSpPr>
        <p:spPr>
          <a:xfrm>
            <a:off x="2157796" y="1192552"/>
            <a:ext cx="1246909" cy="1246909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23091" cap="flat" cmpd="sng" algn="ctr">
            <a:solidFill>
              <a:srgbClr val="FFFFFF"/>
            </a:solidFill>
            <a:miter lim="800000"/>
          </a:ln>
          <a:effectLst>
            <a:outerShdw blurRad="152400" dist="76200" dir="5400000" sx="100000" sy="100000" algn="ctr" rotWithShape="0">
              <a:srgbClr val="2A2233">
                <a:alpha val="16000"/>
              </a:srgbClr>
            </a:outerShdw>
          </a:effectLst>
        </p:spPr>
      </p:sp>
      <p:pic>
        <p:nvPicPr>
          <p:cNvPr id="27" name="Image: فهدٌ منطلق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9368" y="1204094"/>
            <a:ext cx="1223818" cy="1223818"/>
          </a:xfrm>
          <a:prstGeom prst="roundRect">
            <a:avLst>
              <a:gd name="adj" fmla="val 10377"/>
            </a:avLst>
          </a:prstGeom>
          <a:ln>
            <a:noFill/>
          </a:ln>
        </p:spPr>
      </p:pic>
      <p:sp>
        <p:nvSpPr>
          <p:cNvPr id="28" name="Text: خطواتٌ متقاربة"/>
          <p:cNvSpPr txBox="1"/>
          <p:nvPr/>
        </p:nvSpPr>
        <p:spPr>
          <a:xfrm>
            <a:off x="825450" y="2483681"/>
            <a:ext cx="101619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خطواتٌ متقاربة</a:t>
            </a:r>
            <a:endParaRPr lang="en-US" sz="1200" dirty="0"/>
          </a:p>
        </p:txBody>
      </p:sp>
      <p:sp>
        <p:nvSpPr>
          <p:cNvPr id="29" name="Rounded Rectangle"/>
          <p:cNvSpPr/>
          <p:nvPr/>
        </p:nvSpPr>
        <p:spPr>
          <a:xfrm>
            <a:off x="710045" y="1192552"/>
            <a:ext cx="1246909" cy="1246909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23091" cap="flat" cmpd="sng" algn="ctr">
            <a:solidFill>
              <a:srgbClr val="FFFFFF"/>
            </a:solidFill>
            <a:miter lim="800000"/>
          </a:ln>
          <a:effectLst>
            <a:outerShdw blurRad="152400" dist="76200" dir="5400000" sx="100000" sy="100000" algn="ctr" rotWithShape="0">
              <a:srgbClr val="2A2233">
                <a:alpha val="16000"/>
              </a:srgbClr>
            </a:outerShdw>
          </a:effectLst>
        </p:spPr>
      </p:sp>
      <p:pic>
        <p:nvPicPr>
          <p:cNvPr id="30" name="Image: خطواتٌ متقاربة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618" y="1204094"/>
            <a:ext cx="1223818" cy="1223818"/>
          </a:xfrm>
          <a:prstGeom prst="roundRect">
            <a:avLst>
              <a:gd name="adj" fmla="val 10377"/>
            </a:avLst>
          </a:prstGeom>
          <a:ln>
            <a:noFill/>
          </a:ln>
        </p:spPr>
      </p:pic>
      <p:sp>
        <p:nvSpPr>
          <p:cNvPr id="31" name="Rounded Rectangle"/>
          <p:cNvSpPr/>
          <p:nvPr/>
        </p:nvSpPr>
        <p:spPr>
          <a:xfrm>
            <a:off x="10251834" y="3687212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2" name="Text: الطويل"/>
          <p:cNvSpPr txBox="1"/>
          <p:nvPr/>
        </p:nvSpPr>
        <p:spPr>
          <a:xfrm>
            <a:off x="10476111" y="3946190"/>
            <a:ext cx="68401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الطويل</a:t>
            </a:r>
            <a:endParaRPr lang="en-US" sz="2400" dirty="0"/>
          </a:p>
        </p:txBody>
      </p:sp>
      <p:sp>
        <p:nvSpPr>
          <p:cNvPr id="33" name="Text: ١"/>
          <p:cNvSpPr txBox="1"/>
          <p:nvPr/>
        </p:nvSpPr>
        <p:spPr>
          <a:xfrm>
            <a:off x="11210875" y="4001033"/>
            <a:ext cx="5070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</a:t>
            </a:r>
            <a:endParaRPr lang="en-US" sz="1400" dirty="0"/>
          </a:p>
        </p:txBody>
      </p:sp>
      <p:sp>
        <p:nvSpPr>
          <p:cNvPr id="34" name="Rounded Rectangle"/>
          <p:cNvSpPr/>
          <p:nvPr/>
        </p:nvSpPr>
        <p:spPr>
          <a:xfrm>
            <a:off x="8888122" y="3687212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5" name="Text: المديد"/>
          <p:cNvSpPr txBox="1"/>
          <p:nvPr/>
        </p:nvSpPr>
        <p:spPr>
          <a:xfrm>
            <a:off x="9183836" y="3946190"/>
            <a:ext cx="51633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المديد</a:t>
            </a:r>
            <a:endParaRPr lang="en-US" sz="2400" dirty="0"/>
          </a:p>
        </p:txBody>
      </p:sp>
      <p:sp>
        <p:nvSpPr>
          <p:cNvPr id="36" name="Text: ٢"/>
          <p:cNvSpPr txBox="1"/>
          <p:nvPr/>
        </p:nvSpPr>
        <p:spPr>
          <a:xfrm>
            <a:off x="9750921" y="4001033"/>
            <a:ext cx="7560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٢</a:t>
            </a:r>
            <a:endParaRPr lang="en-US" sz="1400" dirty="0"/>
          </a:p>
        </p:txBody>
      </p:sp>
      <p:sp>
        <p:nvSpPr>
          <p:cNvPr id="37" name="Rounded Rectangle"/>
          <p:cNvSpPr/>
          <p:nvPr/>
        </p:nvSpPr>
        <p:spPr>
          <a:xfrm>
            <a:off x="7524509" y="3687212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8" name="Text: البسيط"/>
          <p:cNvSpPr txBox="1"/>
          <p:nvPr/>
        </p:nvSpPr>
        <p:spPr>
          <a:xfrm>
            <a:off x="7724676" y="3946190"/>
            <a:ext cx="67032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البسيط</a:t>
            </a:r>
            <a:endParaRPr lang="en-US" sz="2400" dirty="0"/>
          </a:p>
        </p:txBody>
      </p:sp>
      <p:sp>
        <p:nvSpPr>
          <p:cNvPr id="39" name="Text: ٣"/>
          <p:cNvSpPr txBox="1"/>
          <p:nvPr/>
        </p:nvSpPr>
        <p:spPr>
          <a:xfrm>
            <a:off x="8445748" y="4001033"/>
            <a:ext cx="11256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٣</a:t>
            </a:r>
            <a:endParaRPr lang="en-US" sz="1400" dirty="0"/>
          </a:p>
        </p:txBody>
      </p:sp>
      <p:sp>
        <p:nvSpPr>
          <p:cNvPr id="40" name="Rounded Rectangle"/>
          <p:cNvSpPr/>
          <p:nvPr/>
        </p:nvSpPr>
        <p:spPr>
          <a:xfrm>
            <a:off x="6160847" y="3687212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41" name="Text: الوافر"/>
          <p:cNvSpPr txBox="1"/>
          <p:nvPr/>
        </p:nvSpPr>
        <p:spPr>
          <a:xfrm>
            <a:off x="6468963" y="3946190"/>
            <a:ext cx="485279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الوافر</a:t>
            </a:r>
            <a:endParaRPr lang="en-US" sz="2400" dirty="0"/>
          </a:p>
        </p:txBody>
      </p:sp>
      <p:sp>
        <p:nvSpPr>
          <p:cNvPr id="42" name="Text: ٤"/>
          <p:cNvSpPr txBox="1"/>
          <p:nvPr/>
        </p:nvSpPr>
        <p:spPr>
          <a:xfrm>
            <a:off x="7004993" y="4001033"/>
            <a:ext cx="81806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٤</a:t>
            </a:r>
            <a:endParaRPr lang="en-US" sz="1400" dirty="0"/>
          </a:p>
        </p:txBody>
      </p:sp>
      <p:sp>
        <p:nvSpPr>
          <p:cNvPr id="43" name="Rounded Rectangle"/>
          <p:cNvSpPr/>
          <p:nvPr/>
        </p:nvSpPr>
        <p:spPr>
          <a:xfrm>
            <a:off x="4797184" y="3687212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44" name="Text: الكامل"/>
          <p:cNvSpPr txBox="1"/>
          <p:nvPr/>
        </p:nvSpPr>
        <p:spPr>
          <a:xfrm>
            <a:off x="5020667" y="3946190"/>
            <a:ext cx="65261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الكامل</a:t>
            </a:r>
            <a:endParaRPr lang="en-US" sz="2400" dirty="0"/>
          </a:p>
        </p:txBody>
      </p:sp>
      <p:sp>
        <p:nvSpPr>
          <p:cNvPr id="45" name="Text: ٥"/>
          <p:cNvSpPr txBox="1"/>
          <p:nvPr/>
        </p:nvSpPr>
        <p:spPr>
          <a:xfrm>
            <a:off x="5724029" y="4001033"/>
            <a:ext cx="8374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٥</a:t>
            </a:r>
            <a:endParaRPr lang="en-US" sz="1400" dirty="0"/>
          </a:p>
        </p:txBody>
      </p:sp>
      <p:sp>
        <p:nvSpPr>
          <p:cNvPr id="46" name="Rounded Rectangle"/>
          <p:cNvSpPr/>
          <p:nvPr/>
        </p:nvSpPr>
        <p:spPr>
          <a:xfrm>
            <a:off x="3433522" y="3687212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47" name="Text: الهزج"/>
          <p:cNvSpPr txBox="1"/>
          <p:nvPr/>
        </p:nvSpPr>
        <p:spPr>
          <a:xfrm>
            <a:off x="3730476" y="3946190"/>
            <a:ext cx="51385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الهزج</a:t>
            </a:r>
            <a:endParaRPr lang="en-US" sz="2400" dirty="0"/>
          </a:p>
        </p:txBody>
      </p:sp>
      <p:sp>
        <p:nvSpPr>
          <p:cNvPr id="48" name="Text: ٦"/>
          <p:cNvSpPr txBox="1"/>
          <p:nvPr/>
        </p:nvSpPr>
        <p:spPr>
          <a:xfrm>
            <a:off x="4295080" y="4001033"/>
            <a:ext cx="7560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٦</a:t>
            </a:r>
            <a:endParaRPr lang="en-US" sz="1400" dirty="0"/>
          </a:p>
        </p:txBody>
      </p:sp>
      <p:sp>
        <p:nvSpPr>
          <p:cNvPr id="49" name="Rounded Rectangle"/>
          <p:cNvSpPr/>
          <p:nvPr/>
        </p:nvSpPr>
        <p:spPr>
          <a:xfrm>
            <a:off x="2069909" y="3687212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50" name="Text: الرجز"/>
          <p:cNvSpPr txBox="1"/>
          <p:nvPr/>
        </p:nvSpPr>
        <p:spPr>
          <a:xfrm>
            <a:off x="2367508" y="3946190"/>
            <a:ext cx="488603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الرجز</a:t>
            </a:r>
            <a:endParaRPr lang="en-US" sz="2400" dirty="0"/>
          </a:p>
        </p:txBody>
      </p:sp>
      <p:sp>
        <p:nvSpPr>
          <p:cNvPr id="51" name="Text: ٧"/>
          <p:cNvSpPr txBox="1"/>
          <p:nvPr/>
        </p:nvSpPr>
        <p:spPr>
          <a:xfrm>
            <a:off x="2906861" y="4001033"/>
            <a:ext cx="9941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٧</a:t>
            </a:r>
            <a:endParaRPr lang="en-US" sz="1400" dirty="0"/>
          </a:p>
        </p:txBody>
      </p:sp>
      <p:sp>
        <p:nvSpPr>
          <p:cNvPr id="52" name="Rounded Rectangle"/>
          <p:cNvSpPr/>
          <p:nvPr/>
        </p:nvSpPr>
        <p:spPr>
          <a:xfrm>
            <a:off x="706197" y="3687212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53" name="Text: الرمل"/>
          <p:cNvSpPr txBox="1"/>
          <p:nvPr/>
        </p:nvSpPr>
        <p:spPr>
          <a:xfrm>
            <a:off x="980232" y="3946190"/>
            <a:ext cx="53583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الرمل</a:t>
            </a:r>
            <a:endParaRPr lang="en-US" sz="2400" dirty="0"/>
          </a:p>
        </p:txBody>
      </p:sp>
      <p:sp>
        <p:nvSpPr>
          <p:cNvPr id="54" name="Text: ٨"/>
          <p:cNvSpPr txBox="1"/>
          <p:nvPr/>
        </p:nvSpPr>
        <p:spPr>
          <a:xfrm>
            <a:off x="1566813" y="4001033"/>
            <a:ext cx="9941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٨</a:t>
            </a:r>
            <a:endParaRPr lang="en-US" sz="1400" dirty="0"/>
          </a:p>
        </p:txBody>
      </p:sp>
      <p:sp>
        <p:nvSpPr>
          <p:cNvPr id="55" name="Rounded Rectangle"/>
          <p:cNvSpPr/>
          <p:nvPr/>
        </p:nvSpPr>
        <p:spPr>
          <a:xfrm>
            <a:off x="10251834" y="4721189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56" name="Text: السريع"/>
          <p:cNvSpPr txBox="1"/>
          <p:nvPr/>
        </p:nvSpPr>
        <p:spPr>
          <a:xfrm>
            <a:off x="10476855" y="4980167"/>
            <a:ext cx="649238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السريع</a:t>
            </a:r>
            <a:endParaRPr lang="en-US" sz="2400" dirty="0"/>
          </a:p>
        </p:txBody>
      </p:sp>
      <p:sp>
        <p:nvSpPr>
          <p:cNvPr id="57" name="Text: ٩"/>
          <p:cNvSpPr txBox="1"/>
          <p:nvPr/>
        </p:nvSpPr>
        <p:spPr>
          <a:xfrm>
            <a:off x="11176843" y="5035010"/>
            <a:ext cx="83939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٩</a:t>
            </a:r>
            <a:endParaRPr lang="en-US" sz="1400" dirty="0"/>
          </a:p>
        </p:txBody>
      </p:sp>
      <p:sp>
        <p:nvSpPr>
          <p:cNvPr id="58" name="Rounded Rectangle"/>
          <p:cNvSpPr/>
          <p:nvPr/>
        </p:nvSpPr>
        <p:spPr>
          <a:xfrm>
            <a:off x="8888122" y="4721189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59" name="Text: المنسرح"/>
          <p:cNvSpPr txBox="1"/>
          <p:nvPr/>
        </p:nvSpPr>
        <p:spPr>
          <a:xfrm>
            <a:off x="9053612" y="4980167"/>
            <a:ext cx="734616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المنسرح</a:t>
            </a:r>
            <a:endParaRPr lang="en-US" sz="2400" dirty="0"/>
          </a:p>
        </p:txBody>
      </p:sp>
      <p:sp>
        <p:nvSpPr>
          <p:cNvPr id="60" name="Text: ١٠"/>
          <p:cNvSpPr txBox="1"/>
          <p:nvPr/>
        </p:nvSpPr>
        <p:spPr>
          <a:xfrm>
            <a:off x="9838978" y="5035010"/>
            <a:ext cx="117723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١٠</a:t>
            </a:r>
            <a:endParaRPr lang="en-US" sz="1400" dirty="0"/>
          </a:p>
        </p:txBody>
      </p:sp>
      <p:sp>
        <p:nvSpPr>
          <p:cNvPr id="61" name="Rounded Rectangle"/>
          <p:cNvSpPr/>
          <p:nvPr/>
        </p:nvSpPr>
        <p:spPr>
          <a:xfrm>
            <a:off x="7524509" y="4721189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62" name="Text: الخفيف"/>
          <p:cNvSpPr txBox="1"/>
          <p:nvPr/>
        </p:nvSpPr>
        <p:spPr>
          <a:xfrm>
            <a:off x="7688263" y="4980167"/>
            <a:ext cx="75441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الخفيف</a:t>
            </a:r>
            <a:endParaRPr lang="en-US" sz="2400" dirty="0"/>
          </a:p>
        </p:txBody>
      </p:sp>
      <p:sp>
        <p:nvSpPr>
          <p:cNvPr id="63" name="Text: ١١"/>
          <p:cNvSpPr txBox="1"/>
          <p:nvPr/>
        </p:nvSpPr>
        <p:spPr>
          <a:xfrm>
            <a:off x="8493423" y="5035010"/>
            <a:ext cx="10140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١١</a:t>
            </a:r>
            <a:endParaRPr lang="en-US" sz="1400" dirty="0"/>
          </a:p>
        </p:txBody>
      </p:sp>
      <p:sp>
        <p:nvSpPr>
          <p:cNvPr id="64" name="Rounded Rectangle"/>
          <p:cNvSpPr/>
          <p:nvPr/>
        </p:nvSpPr>
        <p:spPr>
          <a:xfrm>
            <a:off x="6160847" y="4721189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65" name="Text: المضارع"/>
          <p:cNvSpPr txBox="1"/>
          <p:nvPr/>
        </p:nvSpPr>
        <p:spPr>
          <a:xfrm>
            <a:off x="6314132" y="4980167"/>
            <a:ext cx="750441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المضارع</a:t>
            </a:r>
            <a:endParaRPr lang="en-US" sz="2400" dirty="0"/>
          </a:p>
        </p:txBody>
      </p:sp>
      <p:sp>
        <p:nvSpPr>
          <p:cNvPr id="66" name="Text: ١٢"/>
          <p:cNvSpPr txBox="1"/>
          <p:nvPr/>
        </p:nvSpPr>
        <p:spPr>
          <a:xfrm>
            <a:off x="7115324" y="5035010"/>
            <a:ext cx="126256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١٢</a:t>
            </a:r>
            <a:endParaRPr lang="en-US" sz="1400" dirty="0"/>
          </a:p>
        </p:txBody>
      </p:sp>
      <p:sp>
        <p:nvSpPr>
          <p:cNvPr id="67" name="Rounded Rectangle"/>
          <p:cNvSpPr/>
          <p:nvPr/>
        </p:nvSpPr>
        <p:spPr>
          <a:xfrm>
            <a:off x="4797184" y="4721189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68" name="Text: المقتضب"/>
          <p:cNvSpPr txBox="1"/>
          <p:nvPr/>
        </p:nvSpPr>
        <p:spPr>
          <a:xfrm>
            <a:off x="4880620" y="4980167"/>
            <a:ext cx="853132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المقتضب</a:t>
            </a:r>
            <a:endParaRPr lang="en-US" sz="2400" dirty="0"/>
          </a:p>
        </p:txBody>
      </p:sp>
      <p:sp>
        <p:nvSpPr>
          <p:cNvPr id="69" name="Text: ١٣"/>
          <p:cNvSpPr txBox="1"/>
          <p:nvPr/>
        </p:nvSpPr>
        <p:spPr>
          <a:xfrm>
            <a:off x="5784503" y="5035010"/>
            <a:ext cx="16326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١٣</a:t>
            </a:r>
            <a:endParaRPr lang="en-US" sz="1400" dirty="0"/>
          </a:p>
        </p:txBody>
      </p:sp>
      <p:sp>
        <p:nvSpPr>
          <p:cNvPr id="70" name="Rounded Rectangle"/>
          <p:cNvSpPr/>
          <p:nvPr/>
        </p:nvSpPr>
        <p:spPr>
          <a:xfrm>
            <a:off x="3433522" y="4721189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71" name="Text: المجتث"/>
          <p:cNvSpPr txBox="1"/>
          <p:nvPr/>
        </p:nvSpPr>
        <p:spPr>
          <a:xfrm>
            <a:off x="3657650" y="4980167"/>
            <a:ext cx="602655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المجتث</a:t>
            </a:r>
            <a:endParaRPr lang="en-US" sz="2400" dirty="0"/>
          </a:p>
        </p:txBody>
      </p:sp>
      <p:sp>
        <p:nvSpPr>
          <p:cNvPr id="72" name="Text: ١٤"/>
          <p:cNvSpPr txBox="1"/>
          <p:nvPr/>
        </p:nvSpPr>
        <p:spPr>
          <a:xfrm>
            <a:off x="4311055" y="5035010"/>
            <a:ext cx="132457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400" dirty="0"/>
          </a:p>
        </p:txBody>
      </p:sp>
      <p:sp>
        <p:nvSpPr>
          <p:cNvPr id="73" name="Rounded Rectangle"/>
          <p:cNvSpPr/>
          <p:nvPr/>
        </p:nvSpPr>
        <p:spPr>
          <a:xfrm>
            <a:off x="2069909" y="4721189"/>
            <a:ext cx="1233980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74" name="Text: المتقارب"/>
          <p:cNvSpPr txBox="1"/>
          <p:nvPr/>
        </p:nvSpPr>
        <p:spPr>
          <a:xfrm>
            <a:off x="2175470" y="4980167"/>
            <a:ext cx="83765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المتقارب</a:t>
            </a:r>
            <a:endParaRPr lang="en-US" sz="2400" dirty="0"/>
          </a:p>
        </p:txBody>
      </p:sp>
      <p:sp>
        <p:nvSpPr>
          <p:cNvPr id="75" name="Text: ١٥"/>
          <p:cNvSpPr txBox="1"/>
          <p:nvPr/>
        </p:nvSpPr>
        <p:spPr>
          <a:xfrm>
            <a:off x="3063875" y="5035010"/>
            <a:ext cx="134441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١٥</a:t>
            </a:r>
            <a:endParaRPr lang="en-US" sz="1400" dirty="0"/>
          </a:p>
        </p:txBody>
      </p:sp>
      <p:sp>
        <p:nvSpPr>
          <p:cNvPr id="76" name="Rounded Rectangle"/>
          <p:cNvSpPr/>
          <p:nvPr/>
        </p:nvSpPr>
        <p:spPr>
          <a:xfrm>
            <a:off x="706197" y="4721189"/>
            <a:ext cx="1234041" cy="90433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 w="15394" cap="flat" cmpd="sng" algn="ctr">
            <a:solidFill>
              <a:srgbClr val="B4532A"/>
            </a:solidFill>
            <a:prstDash val="dash"/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77" name="Text: المتدارك"/>
          <p:cNvSpPr txBox="1"/>
          <p:nvPr/>
        </p:nvSpPr>
        <p:spPr>
          <a:xfrm>
            <a:off x="844550" y="4980167"/>
            <a:ext cx="780355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4" dirty="0">
                <a:solidFill>
                  <a:srgbClr val="B4532A"/>
                </a:solidFill>
                <a:latin typeface="Amiri"/>
                <a:ea typeface="Amiri"/>
                <a:cs typeface="Amiri"/>
              </a:rPr>
              <a:t>المتدارك</a:t>
            </a:r>
            <a:endParaRPr lang="en-US" sz="2400" dirty="0"/>
          </a:p>
        </p:txBody>
      </p:sp>
      <p:sp>
        <p:nvSpPr>
          <p:cNvPr id="78" name="Text: ١٦"/>
          <p:cNvSpPr txBox="1"/>
          <p:nvPr/>
        </p:nvSpPr>
        <p:spPr>
          <a:xfrm>
            <a:off x="1675656" y="5035010"/>
            <a:ext cx="12630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>
                    <a:alpha val="60000"/>
                  </a:srgbClr>
                </a:solidFill>
                <a:latin typeface="Tajawal"/>
                <a:ea typeface="Tajawal"/>
                <a:cs typeface="Tajawal"/>
              </a:rPr>
              <a:t>١٦</a:t>
            </a:r>
            <a:endParaRPr lang="en-US" sz="1400" dirty="0"/>
          </a:p>
        </p:txBody>
      </p:sp>
      <p:sp>
        <p:nvSpPr>
          <p:cNvPr id="79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80" name="Text: ١٠ / ١٤"/>
          <p:cNvSpPr txBox="1"/>
          <p:nvPr/>
        </p:nvSpPr>
        <p:spPr>
          <a:xfrm>
            <a:off x="698500" y="6716632"/>
            <a:ext cx="292298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١٠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وحدات الوزن"/>
          <p:cNvSpPr txBox="1"/>
          <p:nvPr/>
        </p:nvSpPr>
        <p:spPr>
          <a:xfrm>
            <a:off x="10440045" y="316756"/>
            <a:ext cx="88840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وحدات الوزن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التفعيلات الثماني"/>
          <p:cNvSpPr txBox="1"/>
          <p:nvPr/>
        </p:nvSpPr>
        <p:spPr>
          <a:xfrm>
            <a:off x="9293572" y="679207"/>
            <a:ext cx="2199928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التفعيلات الثماني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5981750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5981750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6083300"/>
            <a:ext cx="196850" cy="24130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من هذه التفعيلات تُبنى البحور كل"/>
          <p:cNvSpPr txBox="1"/>
          <p:nvPr/>
        </p:nvSpPr>
        <p:spPr>
          <a:xfrm>
            <a:off x="5722243" y="6327329"/>
            <a:ext cx="5290641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من هذه التفعيلات تُبنى البحور كلّها، كما تُبنى الألحان من النغمات.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661" y="1140461"/>
            <a:ext cx="8285511" cy="495947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7"/>
            <a:ext cx="19002" cy="4699180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93284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3436578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4940312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خماسية ( ٥ أ ح ر ف ) و سباعية ( ٧ أ ح ر "/>
          <p:cNvSpPr txBox="1"/>
          <p:nvPr/>
        </p:nvSpPr>
        <p:spPr>
          <a:xfrm>
            <a:off x="5786438" y="2386360"/>
            <a:ext cx="5072063" cy="31884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خماسية</a:t>
            </a:r>
            <a:br>
              <a:rPr lang="en-US" sz="1400"/>
            </a:b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(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٥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)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و</a:t>
            </a:r>
            <a:endParaRPr lang="en-US" sz="1400" dirty="0"/>
          </a:p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سباعية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(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٧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)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—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ض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غ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:</a:t>
            </a:r>
            <a:endParaRPr lang="en-US" sz="1400" dirty="0"/>
          </a:p>
        </p:txBody>
      </p:sp>
      <p:sp>
        <p:nvSpPr>
          <p:cNvPr id="16" name="Rounded Rectangle"/>
          <p:cNvSpPr/>
          <p:nvPr/>
        </p:nvSpPr>
        <p:spPr>
          <a:xfrm>
            <a:off x="9183447" y="2548720"/>
            <a:ext cx="166735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B4532A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17" name="Text: فاعِلُنْ"/>
          <p:cNvSpPr txBox="1"/>
          <p:nvPr/>
        </p:nvSpPr>
        <p:spPr>
          <a:xfrm>
            <a:off x="9732169" y="2735746"/>
            <a:ext cx="569913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B4532A"/>
                </a:solidFill>
                <a:latin typeface="Amiri"/>
                <a:ea typeface="Amiri"/>
                <a:cs typeface="Amiri"/>
              </a:rPr>
              <a:t>فاعِلُنْ</a:t>
            </a:r>
            <a:endParaRPr lang="en-US" sz="2600" dirty="0"/>
          </a:p>
        </p:txBody>
      </p:sp>
      <p:sp>
        <p:nvSpPr>
          <p:cNvPr id="18" name="Text: - ٮ -"/>
          <p:cNvSpPr txBox="1"/>
          <p:nvPr/>
        </p:nvSpPr>
        <p:spPr>
          <a:xfrm>
            <a:off x="9775180" y="3217720"/>
            <a:ext cx="483939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- ٮ -</a:t>
            </a:r>
            <a:endParaRPr lang="en-US" sz="1700" dirty="0"/>
          </a:p>
        </p:txBody>
      </p:sp>
      <p:sp>
        <p:nvSpPr>
          <p:cNvPr id="19" name="Rounded Rectangle"/>
          <p:cNvSpPr/>
          <p:nvPr/>
        </p:nvSpPr>
        <p:spPr>
          <a:xfrm>
            <a:off x="7348247" y="2548720"/>
            <a:ext cx="166741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B4532A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20" name="Text: فَعُولُنْ"/>
          <p:cNvSpPr txBox="1"/>
          <p:nvPr/>
        </p:nvSpPr>
        <p:spPr>
          <a:xfrm>
            <a:off x="7885410" y="2735746"/>
            <a:ext cx="593130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B4532A"/>
                </a:solidFill>
                <a:latin typeface="Amiri"/>
                <a:ea typeface="Amiri"/>
                <a:cs typeface="Amiri"/>
              </a:rPr>
              <a:t>فَعُولُنْ</a:t>
            </a:r>
            <a:endParaRPr lang="en-US" sz="2600" dirty="0"/>
          </a:p>
        </p:txBody>
      </p:sp>
      <p:sp>
        <p:nvSpPr>
          <p:cNvPr id="21" name="Text: ٮ - -"/>
          <p:cNvSpPr txBox="1"/>
          <p:nvPr/>
        </p:nvSpPr>
        <p:spPr>
          <a:xfrm>
            <a:off x="7940030" y="3217720"/>
            <a:ext cx="483939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ٮ - -</a:t>
            </a:r>
            <a:endParaRPr lang="en-US" sz="1700" dirty="0"/>
          </a:p>
        </p:txBody>
      </p:sp>
      <p:sp>
        <p:nvSpPr>
          <p:cNvPr id="22" name="Rounded Rectangle"/>
          <p:cNvSpPr/>
          <p:nvPr/>
        </p:nvSpPr>
        <p:spPr>
          <a:xfrm>
            <a:off x="5513147" y="2548720"/>
            <a:ext cx="166735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23" name="Text: مَفاعِيلُنْ"/>
          <p:cNvSpPr txBox="1"/>
          <p:nvPr/>
        </p:nvSpPr>
        <p:spPr>
          <a:xfrm>
            <a:off x="5929263" y="2735746"/>
            <a:ext cx="835124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مَفاعِيلُنْ</a:t>
            </a:r>
            <a:endParaRPr lang="en-US" sz="2600" dirty="0"/>
          </a:p>
        </p:txBody>
      </p:sp>
      <p:sp>
        <p:nvSpPr>
          <p:cNvPr id="24" name="Text: ٮ - - -"/>
          <p:cNvSpPr txBox="1"/>
          <p:nvPr/>
        </p:nvSpPr>
        <p:spPr>
          <a:xfrm>
            <a:off x="6033889" y="3217720"/>
            <a:ext cx="62592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ٮ - - -</a:t>
            </a:r>
            <a:endParaRPr lang="en-US" sz="1700" dirty="0"/>
          </a:p>
        </p:txBody>
      </p:sp>
      <p:sp>
        <p:nvSpPr>
          <p:cNvPr id="25" name="Rounded Rectangle"/>
          <p:cNvSpPr/>
          <p:nvPr/>
        </p:nvSpPr>
        <p:spPr>
          <a:xfrm>
            <a:off x="3677947" y="2548720"/>
            <a:ext cx="166741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26" name="Text: مُسْتَفْعِلُنْ"/>
          <p:cNvSpPr txBox="1"/>
          <p:nvPr/>
        </p:nvSpPr>
        <p:spPr>
          <a:xfrm>
            <a:off x="4056509" y="2735746"/>
            <a:ext cx="910382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مُسْتَفْعِلُنْ</a:t>
            </a:r>
            <a:endParaRPr lang="en-US" sz="2600" dirty="0"/>
          </a:p>
        </p:txBody>
      </p:sp>
      <p:sp>
        <p:nvSpPr>
          <p:cNvPr id="27" name="Text: - - ٮ -"/>
          <p:cNvSpPr txBox="1"/>
          <p:nvPr/>
        </p:nvSpPr>
        <p:spPr>
          <a:xfrm>
            <a:off x="4198689" y="3217720"/>
            <a:ext cx="62592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- - ٮ -</a:t>
            </a:r>
            <a:endParaRPr lang="en-US" sz="1700" dirty="0"/>
          </a:p>
        </p:txBody>
      </p:sp>
      <p:sp>
        <p:nvSpPr>
          <p:cNvPr id="28" name="Rounded Rectangle"/>
          <p:cNvSpPr/>
          <p:nvPr/>
        </p:nvSpPr>
        <p:spPr>
          <a:xfrm>
            <a:off x="9183447" y="3830329"/>
            <a:ext cx="166735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29" name="Text: مُفاعَلَتُنْ"/>
          <p:cNvSpPr txBox="1"/>
          <p:nvPr/>
        </p:nvSpPr>
        <p:spPr>
          <a:xfrm>
            <a:off x="9630321" y="4017349"/>
            <a:ext cx="773658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مُفاعَلَتُنْ</a:t>
            </a:r>
            <a:endParaRPr lang="en-US" sz="2600" dirty="0"/>
          </a:p>
        </p:txBody>
      </p:sp>
      <p:sp>
        <p:nvSpPr>
          <p:cNvPr id="30" name="Text: ٮ - ٮ ٮ -"/>
          <p:cNvSpPr txBox="1"/>
          <p:nvPr/>
        </p:nvSpPr>
        <p:spPr>
          <a:xfrm>
            <a:off x="9512746" y="4499322"/>
            <a:ext cx="1008856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ٮ - ٮ ٮ -</a:t>
            </a:r>
            <a:endParaRPr lang="en-US" sz="1700" dirty="0"/>
          </a:p>
        </p:txBody>
      </p:sp>
      <p:sp>
        <p:nvSpPr>
          <p:cNvPr id="31" name="Rounded Rectangle"/>
          <p:cNvSpPr/>
          <p:nvPr/>
        </p:nvSpPr>
        <p:spPr>
          <a:xfrm>
            <a:off x="7348247" y="3830329"/>
            <a:ext cx="166741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2" name="Text: مُتَفاعِلُنْ"/>
          <p:cNvSpPr txBox="1"/>
          <p:nvPr/>
        </p:nvSpPr>
        <p:spPr>
          <a:xfrm>
            <a:off x="7778800" y="4017349"/>
            <a:ext cx="806400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مُتَفاعِلُنْ</a:t>
            </a:r>
            <a:endParaRPr lang="en-US" sz="2600" dirty="0"/>
          </a:p>
        </p:txBody>
      </p:sp>
      <p:sp>
        <p:nvSpPr>
          <p:cNvPr id="33" name="Text: ٮ ٮ - ٮ -"/>
          <p:cNvSpPr txBox="1"/>
          <p:nvPr/>
        </p:nvSpPr>
        <p:spPr>
          <a:xfrm>
            <a:off x="7677547" y="4499322"/>
            <a:ext cx="1008856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ٮ ٮ - ٮ -</a:t>
            </a:r>
            <a:endParaRPr lang="en-US" sz="1700" dirty="0"/>
          </a:p>
        </p:txBody>
      </p:sp>
      <p:sp>
        <p:nvSpPr>
          <p:cNvPr id="34" name="Rounded Rectangle"/>
          <p:cNvSpPr/>
          <p:nvPr/>
        </p:nvSpPr>
        <p:spPr>
          <a:xfrm>
            <a:off x="5513147" y="3830329"/>
            <a:ext cx="166735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5" name="Text: فاعِلاتُنْ"/>
          <p:cNvSpPr txBox="1"/>
          <p:nvPr/>
        </p:nvSpPr>
        <p:spPr>
          <a:xfrm>
            <a:off x="5942509" y="4017349"/>
            <a:ext cx="808633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فاعِلاتُنْ</a:t>
            </a:r>
            <a:endParaRPr lang="en-US" sz="2600" dirty="0"/>
          </a:p>
        </p:txBody>
      </p:sp>
      <p:sp>
        <p:nvSpPr>
          <p:cNvPr id="36" name="Text: - ٮ - -"/>
          <p:cNvSpPr txBox="1"/>
          <p:nvPr/>
        </p:nvSpPr>
        <p:spPr>
          <a:xfrm>
            <a:off x="6033889" y="4499322"/>
            <a:ext cx="62592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- ٮ - -</a:t>
            </a:r>
            <a:endParaRPr lang="en-US" sz="1700" dirty="0"/>
          </a:p>
        </p:txBody>
      </p:sp>
      <p:sp>
        <p:nvSpPr>
          <p:cNvPr id="37" name="Rounded Rectangle"/>
          <p:cNvSpPr/>
          <p:nvPr/>
        </p:nvSpPr>
        <p:spPr>
          <a:xfrm>
            <a:off x="3677947" y="3830329"/>
            <a:ext cx="1667416" cy="1113836"/>
          </a:xfrm>
          <a:prstGeom prst="roundRect">
            <a:avLst>
              <a:gd name="adj" fmla="val 8431"/>
            </a:avLst>
          </a:prstGeom>
          <a:solidFill>
            <a:srgbClr val="FFFFFF"/>
          </a:solidFill>
          <a:ln w="15394" cap="flat" cmpd="sng" algn="ctr">
            <a:solidFill>
              <a:srgbClr val="24305E"/>
            </a:solidFill>
            <a:miter lim="800000"/>
          </a:ln>
          <a:effectLst>
            <a:outerShdw blurRad="0" dist="31750" dir="5400000" sx="100000" sy="100000" algn="ctr" rotWithShape="0">
              <a:srgbClr val="2A2233">
                <a:alpha val="12000"/>
              </a:srgbClr>
            </a:outerShdw>
          </a:effectLst>
        </p:spPr>
      </p:sp>
      <p:sp>
        <p:nvSpPr>
          <p:cNvPr id="38" name="Text: مَفْعُولاتُ"/>
          <p:cNvSpPr txBox="1"/>
          <p:nvPr/>
        </p:nvSpPr>
        <p:spPr>
          <a:xfrm>
            <a:off x="4008735" y="4017349"/>
            <a:ext cx="1005830" cy="4953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مَفْعُولاتُ</a:t>
            </a:r>
            <a:endParaRPr lang="en-US" sz="2600" dirty="0"/>
          </a:p>
        </p:txBody>
      </p:sp>
      <p:sp>
        <p:nvSpPr>
          <p:cNvPr id="39" name="Text: - - - ٮ"/>
          <p:cNvSpPr txBox="1"/>
          <p:nvPr/>
        </p:nvSpPr>
        <p:spPr>
          <a:xfrm>
            <a:off x="4198689" y="4499322"/>
            <a:ext cx="625921" cy="3238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spc="-4" dirty="0">
                <a:solidFill>
                  <a:srgbClr val="5A4E5F"/>
                </a:solidFill>
                <a:latin typeface="Amiri"/>
                <a:ea typeface="Amiri"/>
                <a:cs typeface="Amiri"/>
              </a:rPr>
              <a:t>- - - ٮ</a:t>
            </a:r>
            <a:endParaRPr lang="en-US" sz="1700" dirty="0"/>
          </a:p>
        </p:txBody>
      </p:sp>
      <p:pic>
        <p:nvPicPr>
          <p:cNvPr id="40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61150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41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3876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42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43" name="Text: ١١ / ١٤"/>
          <p:cNvSpPr txBox="1"/>
          <p:nvPr/>
        </p:nvSpPr>
        <p:spPr>
          <a:xfrm>
            <a:off x="698500" y="6716632"/>
            <a:ext cx="281980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١١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الكتابة العروضية"/>
          <p:cNvSpPr txBox="1"/>
          <p:nvPr/>
        </p:nvSpPr>
        <p:spPr>
          <a:xfrm>
            <a:off x="10120759" y="316756"/>
            <a:ext cx="120769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الكتابة العروضية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نكتب ما نسمع"/>
          <p:cNvSpPr txBox="1"/>
          <p:nvPr/>
        </p:nvSpPr>
        <p:spPr>
          <a:xfrm>
            <a:off x="10006509" y="679207"/>
            <a:ext cx="1486991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نكتب ما نسمع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3924312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3924312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40195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القاعدة الذهبية: نكتب ما تسمعه ا"/>
          <p:cNvSpPr txBox="1"/>
          <p:nvPr/>
        </p:nvSpPr>
        <p:spPr>
          <a:xfrm>
            <a:off x="6420842" y="4269891"/>
            <a:ext cx="4592042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القاعدة الذهبية: نكتب ما تسمعه الأذن، لا ما تراه العين.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136650"/>
            <a:ext cx="8293100" cy="292100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7"/>
            <a:ext cx="19002" cy="2654432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60566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245509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330452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ما يُنطق يُكتب"/>
          <p:cNvSpPr txBox="1"/>
          <p:nvPr/>
        </p:nvSpPr>
        <p:spPr>
          <a:xfrm>
            <a:off x="9278987" y="1265262"/>
            <a:ext cx="124931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pc="-4" dirty="0">
                <a:solidFill>
                  <a:srgbClr val="1E7A70"/>
                </a:solidFill>
                <a:latin typeface="Tajawal"/>
                <a:ea typeface="Tajawal"/>
                <a:cs typeface="Tajawal"/>
              </a:rPr>
              <a:t>ما يُنطق يُكتب</a:t>
            </a:r>
            <a:endParaRPr lang="en-US" sz="1600" dirty="0"/>
          </a:p>
        </p:txBody>
      </p:sp>
      <p:sp>
        <p:nvSpPr>
          <p:cNvPr id="16" name="Ellipse"/>
          <p:cNvSpPr/>
          <p:nvPr/>
        </p:nvSpPr>
        <p:spPr>
          <a:xfrm>
            <a:off x="10604500" y="1295257"/>
            <a:ext cx="254000" cy="254000"/>
          </a:xfrm>
          <a:prstGeom prst="ellipse">
            <a:avLst/>
          </a:prstGeom>
          <a:solidFill>
            <a:srgbClr val="1E7A70"/>
          </a:solidFill>
          <a:ln>
            <a:noFill/>
          </a:ln>
        </p:spPr>
      </p:sp>
      <p:sp>
        <p:nvSpPr>
          <p:cNvPr id="17" name="Text: ✓"/>
          <p:cNvSpPr txBox="1"/>
          <p:nvPr/>
        </p:nvSpPr>
        <p:spPr>
          <a:xfrm>
            <a:off x="10669935" y="1238324"/>
            <a:ext cx="12323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✓</a:t>
            </a:r>
            <a:endParaRPr lang="en-US" sz="1300" dirty="0"/>
          </a:p>
        </p:txBody>
      </p:sp>
      <p:sp>
        <p:nvSpPr>
          <p:cNvPr id="18" name="Text: التنوين نونٌ: غَفورٌ ← غَفُورُنْ"/>
          <p:cNvSpPr txBox="1"/>
          <p:nvPr/>
        </p:nvSpPr>
        <p:spPr>
          <a:xfrm>
            <a:off x="8927554" y="1543137"/>
            <a:ext cx="193094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التنوين نونٌ: غَفورٌ ← غَفُورُنْ</a:t>
            </a:r>
            <a:endParaRPr lang="en-US" sz="1400" dirty="0"/>
          </a:p>
        </p:txBody>
      </p:sp>
      <p:sp>
        <p:nvSpPr>
          <p:cNvPr id="19" name="Text: ألف الإشارة: هذا ← هاذا"/>
          <p:cNvSpPr txBox="1"/>
          <p:nvPr/>
        </p:nvSpPr>
        <p:spPr>
          <a:xfrm>
            <a:off x="9179768" y="1847949"/>
            <a:ext cx="167873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ألف الإشارة: هذا ← هاذا</a:t>
            </a:r>
            <a:endParaRPr lang="en-US" sz="1400" dirty="0"/>
          </a:p>
        </p:txBody>
      </p:sp>
      <p:sp>
        <p:nvSpPr>
          <p:cNvPr id="20" name="Text: ألف (الله، الرحمن، لكن، طه)"/>
          <p:cNvSpPr txBox="1"/>
          <p:nvPr/>
        </p:nvSpPr>
        <p:spPr>
          <a:xfrm>
            <a:off x="8912920" y="2152762"/>
            <a:ext cx="194558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ألف (الله، الرحمن، لكن، طه)</a:t>
            </a:r>
            <a:endParaRPr lang="en-US" sz="1400" dirty="0"/>
          </a:p>
        </p:txBody>
      </p:sp>
      <p:sp>
        <p:nvSpPr>
          <p:cNvPr id="21" name="Text: المشدّد حرفان: ساكن + متحرك"/>
          <p:cNvSpPr txBox="1"/>
          <p:nvPr/>
        </p:nvSpPr>
        <p:spPr>
          <a:xfrm>
            <a:off x="8635901" y="2457574"/>
            <a:ext cx="222259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المشدّد حرفان: ساكن + متحرك</a:t>
            </a:r>
            <a:endParaRPr lang="en-US" sz="1400" dirty="0"/>
          </a:p>
        </p:txBody>
      </p:sp>
      <p:sp>
        <p:nvSpPr>
          <p:cNvPr id="22" name="Text: آ = أَ + ا ساكنة"/>
          <p:cNvSpPr txBox="1"/>
          <p:nvPr/>
        </p:nvSpPr>
        <p:spPr>
          <a:xfrm>
            <a:off x="9873555" y="2762380"/>
            <a:ext cx="98494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آ = أَ + ا ساكنة</a:t>
            </a:r>
            <a:endParaRPr lang="en-US" sz="1400" dirty="0"/>
          </a:p>
        </p:txBody>
      </p:sp>
      <p:sp>
        <p:nvSpPr>
          <p:cNvPr id="23" name="Text: إشباع حركة الروي"/>
          <p:cNvSpPr txBox="1"/>
          <p:nvPr/>
        </p:nvSpPr>
        <p:spPr>
          <a:xfrm>
            <a:off x="9625360" y="3067193"/>
            <a:ext cx="123314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إشباع حركة الروي</a:t>
            </a:r>
            <a:endParaRPr lang="en-US" sz="1400" dirty="0"/>
          </a:p>
        </p:txBody>
      </p:sp>
      <p:sp>
        <p:nvSpPr>
          <p:cNvPr id="24" name="Rectangle"/>
          <p:cNvSpPr/>
          <p:nvPr/>
        </p:nvSpPr>
        <p:spPr>
          <a:xfrm>
            <a:off x="8298259" y="1269882"/>
            <a:ext cx="12688" cy="2133684"/>
          </a:xfrm>
          <a:prstGeom prst="rect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25" name="Text: ما لا يُنطق لا يُكتب"/>
          <p:cNvSpPr txBox="1"/>
          <p:nvPr/>
        </p:nvSpPr>
        <p:spPr>
          <a:xfrm>
            <a:off x="6150223" y="1265262"/>
            <a:ext cx="164008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spc="-4" dirty="0">
                <a:solidFill>
                  <a:srgbClr val="C0392B"/>
                </a:solidFill>
                <a:latin typeface="Tajawal"/>
                <a:ea typeface="Tajawal"/>
                <a:cs typeface="Tajawal"/>
              </a:rPr>
              <a:t>ما لا يُنطق لا يُكتب</a:t>
            </a:r>
            <a:endParaRPr lang="en-US" sz="1600" dirty="0"/>
          </a:p>
        </p:txBody>
      </p:sp>
      <p:sp>
        <p:nvSpPr>
          <p:cNvPr id="26" name="Ellipse"/>
          <p:cNvSpPr/>
          <p:nvPr/>
        </p:nvSpPr>
        <p:spPr>
          <a:xfrm>
            <a:off x="7866509" y="1295257"/>
            <a:ext cx="254000" cy="254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27" name="Text: ✕"/>
          <p:cNvSpPr txBox="1"/>
          <p:nvPr/>
        </p:nvSpPr>
        <p:spPr>
          <a:xfrm>
            <a:off x="7926338" y="1238324"/>
            <a:ext cx="134392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✕</a:t>
            </a:r>
            <a:endParaRPr lang="en-US" sz="1300" dirty="0"/>
          </a:p>
        </p:txBody>
      </p:sp>
      <p:sp>
        <p:nvSpPr>
          <p:cNvPr id="28" name="Text: ه م ز ة ا ل و ص ل و س ط ا ل ك ل ا م : ف "/>
          <p:cNvSpPr txBox="1"/>
          <p:nvPr/>
        </p:nvSpPr>
        <p:spPr>
          <a:xfrm>
            <a:off x="6257379" y="1847937"/>
            <a:ext cx="1863130" cy="47626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ص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:</a:t>
            </a:r>
            <a:endParaRPr lang="en-US" sz="1400" dirty="0"/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ف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ع</a:t>
            </a:r>
            <a:endParaRPr lang="en-US" sz="1400" dirty="0"/>
          </a:p>
        </p:txBody>
      </p:sp>
      <p:sp>
        <p:nvSpPr>
          <p:cNvPr id="29" name="Text: ألف واو الجماعة: كتبوا ← كتبو"/>
          <p:cNvSpPr txBox="1"/>
          <p:nvPr/>
        </p:nvSpPr>
        <p:spPr>
          <a:xfrm>
            <a:off x="6029623" y="2152762"/>
            <a:ext cx="209088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ألف واو الجماعة: كتبوا ← كتبو</a:t>
            </a:r>
            <a:endParaRPr lang="en-US" sz="1400" dirty="0"/>
          </a:p>
        </p:txBody>
      </p:sp>
      <p:sp>
        <p:nvSpPr>
          <p:cNvPr id="30" name="Text: اللام الشمسية: الثياب ← اَثْثِيَاب"/>
          <p:cNvSpPr txBox="1"/>
          <p:nvPr/>
        </p:nvSpPr>
        <p:spPr>
          <a:xfrm>
            <a:off x="5869632" y="2457574"/>
            <a:ext cx="225087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اللام الشمسية: الثياب ← اَثْثِيَاب</a:t>
            </a:r>
            <a:endParaRPr lang="en-US" sz="1400" dirty="0"/>
          </a:p>
        </p:txBody>
      </p:sp>
      <p:sp>
        <p:nvSpPr>
          <p:cNvPr id="31" name="Text: واو (عمرو)"/>
          <p:cNvSpPr txBox="1"/>
          <p:nvPr/>
        </p:nvSpPr>
        <p:spPr>
          <a:xfrm>
            <a:off x="7353102" y="2762380"/>
            <a:ext cx="76740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واو (عمرو)</a:t>
            </a:r>
            <a:endParaRPr lang="en-US" sz="1400" dirty="0"/>
          </a:p>
        </p:txBody>
      </p:sp>
      <p:sp>
        <p:nvSpPr>
          <p:cNvPr id="32" name="Text: المدّ قبل الساكن: أتى القاضي"/>
          <p:cNvSpPr txBox="1"/>
          <p:nvPr/>
        </p:nvSpPr>
        <p:spPr>
          <a:xfrm>
            <a:off x="6047383" y="3067193"/>
            <a:ext cx="207312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المدّ قبل الساكن: أتى القاضي</a:t>
            </a:r>
            <a:endParaRPr lang="en-US" sz="1400" dirty="0"/>
          </a:p>
        </p:txBody>
      </p:sp>
      <p:pic>
        <p:nvPicPr>
          <p:cNvPr id="33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34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35" name="Rounded Rectangle"/>
          <p:cNvSpPr/>
          <p:nvPr/>
        </p:nvSpPr>
        <p:spPr>
          <a:xfrm>
            <a:off x="698500" y="4495750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36" name="Rounded Rectangle"/>
          <p:cNvSpPr/>
          <p:nvPr/>
        </p:nvSpPr>
        <p:spPr>
          <a:xfrm>
            <a:off x="10101808" y="4635438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37" name="Text: نشاط تفاعلي"/>
          <p:cNvSpPr txBox="1"/>
          <p:nvPr/>
        </p:nvSpPr>
        <p:spPr>
          <a:xfrm>
            <a:off x="10216059" y="4668118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38" name="Text: اكتبيها عروضيًا في دفترك، ثم اضغطي للتحق"/>
          <p:cNvSpPr txBox="1"/>
          <p:nvPr/>
        </p:nvSpPr>
        <p:spPr>
          <a:xfrm>
            <a:off x="6228159" y="4640070"/>
            <a:ext cx="375939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اكتبيها عروضيًا في دفترك، ثم اضغطي للتحقق</a:t>
            </a:r>
            <a:endParaRPr lang="en-US" sz="1500" dirty="0"/>
          </a:p>
        </p:txBody>
      </p:sp>
      <p:sp>
        <p:nvSpPr>
          <p:cNvPr id="39" name="Rounded Rectangle"/>
          <p:cNvSpPr/>
          <p:nvPr/>
        </p:nvSpPr>
        <p:spPr>
          <a:xfrm>
            <a:off x="8782050" y="5041695"/>
            <a:ext cx="2457438" cy="1193992"/>
          </a:xfrm>
          <a:prstGeom prst="roundRect">
            <a:avLst>
              <a:gd name="adj" fmla="val 10637"/>
            </a:avLst>
          </a:prstGeom>
          <a:solidFill>
            <a:srgbClr val="FBF5E6">
              <a:alpha val="10000"/>
            </a:srgbClr>
          </a:solidFill>
          <a:ln>
            <a:noFill/>
          </a:ln>
          <a:effectLst>
            <a:innerShdw blurRad="0" dist="0" dir="0">
              <a:srgbClr val="FBF5E6">
                <a:alpha val="30000"/>
              </a:srgbClr>
            </a:innerShdw>
          </a:effectLst>
        </p:spPr>
      </p:sp>
      <p:sp>
        <p:nvSpPr>
          <p:cNvPr id="40" name="Text: هَذَا"/>
          <p:cNvSpPr txBox="1"/>
          <p:nvPr/>
        </p:nvSpPr>
        <p:spPr>
          <a:xfrm>
            <a:off x="9851529" y="5327650"/>
            <a:ext cx="318542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هَذَا</a:t>
            </a:r>
            <a:endParaRPr lang="en-US" sz="2200" dirty="0"/>
          </a:p>
        </p:txBody>
      </p:sp>
      <p:sp>
        <p:nvSpPr>
          <p:cNvPr id="41" name="Text: كيف تُكتب عروضيًا؟"/>
          <p:cNvSpPr txBox="1"/>
          <p:nvPr/>
        </p:nvSpPr>
        <p:spPr>
          <a:xfrm>
            <a:off x="9324628" y="5735724"/>
            <a:ext cx="137229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>
                    <a:alpha val="55000"/>
                  </a:srgbClr>
                </a:solidFill>
                <a:latin typeface="Tajawal"/>
                <a:ea typeface="Tajawal"/>
                <a:cs typeface="Tajawal"/>
              </a:rPr>
              <a:t>كيف تُكتب عروضيًا؟</a:t>
            </a:r>
            <a:endParaRPr lang="en-US" sz="1300" dirty="0"/>
          </a:p>
        </p:txBody>
      </p:sp>
      <p:sp>
        <p:nvSpPr>
          <p:cNvPr id="42" name="Rounded Rectangle"/>
          <p:cNvSpPr/>
          <p:nvPr/>
        </p:nvSpPr>
        <p:spPr>
          <a:xfrm>
            <a:off x="6172200" y="5041695"/>
            <a:ext cx="2457498" cy="1193992"/>
          </a:xfrm>
          <a:prstGeom prst="roundRect">
            <a:avLst>
              <a:gd name="adj" fmla="val 10637"/>
            </a:avLst>
          </a:prstGeom>
          <a:solidFill>
            <a:srgbClr val="FBF5E6">
              <a:alpha val="10000"/>
            </a:srgbClr>
          </a:solidFill>
          <a:ln>
            <a:noFill/>
          </a:ln>
          <a:effectLst>
            <a:innerShdw blurRad="0" dist="0" dir="0">
              <a:srgbClr val="FBF5E6">
                <a:alpha val="30000"/>
              </a:srgbClr>
            </a:innerShdw>
          </a:effectLst>
        </p:spPr>
      </p:sp>
      <p:sp>
        <p:nvSpPr>
          <p:cNvPr id="43" name="Text: غَفُورٌ"/>
          <p:cNvSpPr txBox="1"/>
          <p:nvPr/>
        </p:nvSpPr>
        <p:spPr>
          <a:xfrm>
            <a:off x="7177534" y="5327650"/>
            <a:ext cx="446782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غَفُورٌ</a:t>
            </a:r>
            <a:endParaRPr lang="en-US" sz="2200" dirty="0"/>
          </a:p>
        </p:txBody>
      </p:sp>
      <p:sp>
        <p:nvSpPr>
          <p:cNvPr id="44" name="Text: كيف تُكتب عروضيًا؟"/>
          <p:cNvSpPr txBox="1"/>
          <p:nvPr/>
        </p:nvSpPr>
        <p:spPr>
          <a:xfrm>
            <a:off x="6714827" y="5735724"/>
            <a:ext cx="137229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>
                    <a:alpha val="55000"/>
                  </a:srgbClr>
                </a:solidFill>
                <a:latin typeface="Tajawal"/>
                <a:ea typeface="Tajawal"/>
                <a:cs typeface="Tajawal"/>
              </a:rPr>
              <a:t>كيف تُكتب عروضيًا؟</a:t>
            </a:r>
            <a:endParaRPr lang="en-US" sz="1300" dirty="0"/>
          </a:p>
        </p:txBody>
      </p:sp>
      <p:sp>
        <p:nvSpPr>
          <p:cNvPr id="45" name="Rounded Rectangle"/>
          <p:cNvSpPr/>
          <p:nvPr/>
        </p:nvSpPr>
        <p:spPr>
          <a:xfrm>
            <a:off x="3562400" y="5041695"/>
            <a:ext cx="2457438" cy="1193992"/>
          </a:xfrm>
          <a:prstGeom prst="roundRect">
            <a:avLst>
              <a:gd name="adj" fmla="val 10637"/>
            </a:avLst>
          </a:prstGeom>
          <a:solidFill>
            <a:srgbClr val="FBF5E6">
              <a:alpha val="10000"/>
            </a:srgbClr>
          </a:solidFill>
          <a:ln>
            <a:noFill/>
          </a:ln>
          <a:effectLst>
            <a:innerShdw blurRad="0" dist="0" dir="0">
              <a:srgbClr val="FBF5E6">
                <a:alpha val="30000"/>
              </a:srgbClr>
            </a:innerShdw>
          </a:effectLst>
        </p:spPr>
      </p:sp>
      <p:sp>
        <p:nvSpPr>
          <p:cNvPr id="46" name="Text: كَتَبُوا"/>
          <p:cNvSpPr txBox="1"/>
          <p:nvPr/>
        </p:nvSpPr>
        <p:spPr>
          <a:xfrm>
            <a:off x="4552355" y="5327650"/>
            <a:ext cx="477490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كَتَبُوا</a:t>
            </a:r>
            <a:endParaRPr lang="en-US" sz="2200" dirty="0"/>
          </a:p>
        </p:txBody>
      </p:sp>
      <p:sp>
        <p:nvSpPr>
          <p:cNvPr id="47" name="Text: كيف تُكتب عروضيًا؟"/>
          <p:cNvSpPr txBox="1"/>
          <p:nvPr/>
        </p:nvSpPr>
        <p:spPr>
          <a:xfrm>
            <a:off x="4104977" y="5735724"/>
            <a:ext cx="137224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>
                    <a:alpha val="55000"/>
                  </a:srgbClr>
                </a:solidFill>
                <a:latin typeface="Tajawal"/>
                <a:ea typeface="Tajawal"/>
                <a:cs typeface="Tajawal"/>
              </a:rPr>
              <a:t>كيف تُكتب عروضيًا؟</a:t>
            </a:r>
            <a:endParaRPr lang="en-US" sz="1300" dirty="0"/>
          </a:p>
        </p:txBody>
      </p:sp>
      <p:sp>
        <p:nvSpPr>
          <p:cNvPr id="48" name="Rounded Rectangle"/>
          <p:cNvSpPr/>
          <p:nvPr/>
        </p:nvSpPr>
        <p:spPr>
          <a:xfrm>
            <a:off x="952500" y="5041695"/>
            <a:ext cx="2457498" cy="1193992"/>
          </a:xfrm>
          <a:prstGeom prst="roundRect">
            <a:avLst>
              <a:gd name="adj" fmla="val 10637"/>
            </a:avLst>
          </a:prstGeom>
          <a:solidFill>
            <a:srgbClr val="FBF5E6">
              <a:alpha val="10000"/>
            </a:srgbClr>
          </a:solidFill>
          <a:ln>
            <a:noFill/>
          </a:ln>
          <a:effectLst>
            <a:innerShdw blurRad="0" dist="0" dir="0">
              <a:srgbClr val="FBF5E6">
                <a:alpha val="30000"/>
              </a:srgbClr>
            </a:innerShdw>
          </a:effectLst>
        </p:spPr>
      </p:sp>
      <p:sp>
        <p:nvSpPr>
          <p:cNvPr id="49" name="Text: وَالشَّمْسُ"/>
          <p:cNvSpPr txBox="1"/>
          <p:nvPr/>
        </p:nvSpPr>
        <p:spPr>
          <a:xfrm>
            <a:off x="1775867" y="5327650"/>
            <a:ext cx="810816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spc="-4" dirty="0">
                <a:solidFill>
                  <a:srgbClr val="FBF5E6"/>
                </a:solidFill>
                <a:latin typeface="Amiri"/>
                <a:ea typeface="Amiri"/>
                <a:cs typeface="Amiri"/>
              </a:rPr>
              <a:t>وَالشَّمْسُ</a:t>
            </a:r>
            <a:endParaRPr lang="en-US" sz="2200" dirty="0"/>
          </a:p>
        </p:txBody>
      </p:sp>
      <p:sp>
        <p:nvSpPr>
          <p:cNvPr id="50" name="Text: كيف تُكتب عروضيًا؟"/>
          <p:cNvSpPr txBox="1"/>
          <p:nvPr/>
        </p:nvSpPr>
        <p:spPr>
          <a:xfrm>
            <a:off x="1495127" y="5735724"/>
            <a:ext cx="137229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>
                    <a:alpha val="55000"/>
                  </a:srgbClr>
                </a:solidFill>
                <a:latin typeface="Tajawal"/>
                <a:ea typeface="Tajawal"/>
                <a:cs typeface="Tajawal"/>
              </a:rPr>
              <a:t>كيف تُكتب عروضيًا؟</a:t>
            </a:r>
            <a:endParaRPr lang="en-US" sz="1300" dirty="0"/>
          </a:p>
        </p:txBody>
      </p:sp>
      <p:sp>
        <p:nvSpPr>
          <p:cNvPr id="51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52" name="Text: ١٢ / ١٤"/>
          <p:cNvSpPr txBox="1"/>
          <p:nvPr/>
        </p:nvSpPr>
        <p:spPr>
          <a:xfrm>
            <a:off x="698500" y="6716632"/>
            <a:ext cx="302816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١٢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تطبيق"/>
          <p:cNvSpPr txBox="1"/>
          <p:nvPr/>
        </p:nvSpPr>
        <p:spPr>
          <a:xfrm>
            <a:off x="10864453" y="316756"/>
            <a:ext cx="46399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تطبيق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نَزِنُ معًا خطوة خطوة"/>
          <p:cNvSpPr txBox="1"/>
          <p:nvPr/>
        </p:nvSpPr>
        <p:spPr>
          <a:xfrm>
            <a:off x="9275564" y="679207"/>
            <a:ext cx="2217936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نَزِنُ معًا خطوة خطوة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3657625"/>
            <a:ext cx="8026436" cy="685752"/>
          </a:xfrm>
          <a:prstGeom prst="roundRect">
            <a:avLst>
              <a:gd name="adj" fmla="val 1296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3657625"/>
            <a:ext cx="61576" cy="685752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7528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ن ك ت ب ع ر و ض يً ا أ و لً ا ، "/>
          <p:cNvSpPr txBox="1"/>
          <p:nvPr/>
        </p:nvSpPr>
        <p:spPr>
          <a:xfrm>
            <a:off x="4027884" y="4003204"/>
            <a:ext cx="6985000" cy="8508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ض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يً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لً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ث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«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-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»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س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«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ٮ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»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ث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400"/>
            </a:b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ق</a:t>
            </a:r>
            <a:endParaRPr lang="en-US" sz="1400" dirty="0"/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136650"/>
            <a:ext cx="8293100" cy="264160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7"/>
            <a:ext cx="19002" cy="2375056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560984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2320999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3081015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Ellipse"/>
          <p:cNvSpPr/>
          <p:nvPr/>
        </p:nvSpPr>
        <p:spPr>
          <a:xfrm>
            <a:off x="10642650" y="1352445"/>
            <a:ext cx="215876" cy="215876"/>
          </a:xfrm>
          <a:prstGeom prst="ellipse">
            <a:avLst/>
          </a:prstGeom>
          <a:solidFill>
            <a:srgbClr val="24305E"/>
          </a:solidFill>
          <a:ln>
            <a:noFill/>
          </a:ln>
        </p:spPr>
      </p:sp>
      <p:sp>
        <p:nvSpPr>
          <p:cNvPr id="16" name="Text: ١"/>
          <p:cNvSpPr txBox="1"/>
          <p:nvPr/>
        </p:nvSpPr>
        <p:spPr>
          <a:xfrm>
            <a:off x="10732492" y="1249505"/>
            <a:ext cx="3616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١</a:t>
            </a:r>
            <a:endParaRPr lang="en-US" sz="1000" dirty="0"/>
          </a:p>
        </p:txBody>
      </p:sp>
      <p:sp>
        <p:nvSpPr>
          <p:cNvPr id="17" name="Text: الكتابة العادية"/>
          <p:cNvSpPr txBox="1"/>
          <p:nvPr/>
        </p:nvSpPr>
        <p:spPr>
          <a:xfrm>
            <a:off x="9544149" y="1276449"/>
            <a:ext cx="100960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الكتابة العادية</a:t>
            </a:r>
            <a:endParaRPr lang="en-US" sz="1300" dirty="0"/>
          </a:p>
        </p:txBody>
      </p:sp>
      <p:sp>
        <p:nvSpPr>
          <p:cNvPr id="18" name="Text: هَذَا أَبِي"/>
          <p:cNvSpPr txBox="1"/>
          <p:nvPr/>
        </p:nvSpPr>
        <p:spPr>
          <a:xfrm>
            <a:off x="8550176" y="1345716"/>
            <a:ext cx="517723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هَذَا أَبِي</a:t>
            </a:r>
            <a:endParaRPr lang="en-US" sz="1700" dirty="0"/>
          </a:p>
        </p:txBody>
      </p:sp>
      <p:sp>
        <p:nvSpPr>
          <p:cNvPr id="19" name="Ellipse"/>
          <p:cNvSpPr/>
          <p:nvPr/>
        </p:nvSpPr>
        <p:spPr>
          <a:xfrm>
            <a:off x="10642650" y="1657195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20" name="Text: ٢"/>
          <p:cNvSpPr txBox="1"/>
          <p:nvPr/>
        </p:nvSpPr>
        <p:spPr>
          <a:xfrm>
            <a:off x="10723563" y="1554262"/>
            <a:ext cx="5402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٢</a:t>
            </a:r>
            <a:endParaRPr lang="en-US" sz="1000" dirty="0"/>
          </a:p>
        </p:txBody>
      </p:sp>
      <p:sp>
        <p:nvSpPr>
          <p:cNvPr id="21" name="Text: الكتابة العروضية"/>
          <p:cNvSpPr txBox="1"/>
          <p:nvPr/>
        </p:nvSpPr>
        <p:spPr>
          <a:xfrm>
            <a:off x="9346059" y="1581200"/>
            <a:ext cx="1207691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الكتابة العروضية</a:t>
            </a:r>
            <a:endParaRPr lang="en-US" sz="1300" dirty="0"/>
          </a:p>
        </p:txBody>
      </p:sp>
      <p:sp>
        <p:nvSpPr>
          <p:cNvPr id="22" name="Text: ؟ ؟ ؟"/>
          <p:cNvSpPr txBox="1"/>
          <p:nvPr/>
        </p:nvSpPr>
        <p:spPr>
          <a:xfrm>
            <a:off x="8675291" y="1650473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sp>
        <p:nvSpPr>
          <p:cNvPr id="23" name="Ellipse"/>
          <p:cNvSpPr/>
          <p:nvPr/>
        </p:nvSpPr>
        <p:spPr>
          <a:xfrm>
            <a:off x="10642650" y="1961945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24" name="Text: ٣"/>
          <p:cNvSpPr txBox="1"/>
          <p:nvPr/>
        </p:nvSpPr>
        <p:spPr>
          <a:xfrm>
            <a:off x="10710416" y="1859012"/>
            <a:ext cx="8036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٣</a:t>
            </a:r>
            <a:endParaRPr lang="en-US" sz="1000" dirty="0"/>
          </a:p>
        </p:txBody>
      </p:sp>
      <p:sp>
        <p:nvSpPr>
          <p:cNvPr id="25" name="Text: الرموز"/>
          <p:cNvSpPr txBox="1"/>
          <p:nvPr/>
        </p:nvSpPr>
        <p:spPr>
          <a:xfrm>
            <a:off x="10137180" y="1885950"/>
            <a:ext cx="41657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الرموز</a:t>
            </a:r>
            <a:endParaRPr lang="en-US" sz="1300" dirty="0"/>
          </a:p>
        </p:txBody>
      </p:sp>
      <p:sp>
        <p:nvSpPr>
          <p:cNvPr id="26" name="Text: ؟ ؟ ؟"/>
          <p:cNvSpPr txBox="1"/>
          <p:nvPr/>
        </p:nvSpPr>
        <p:spPr>
          <a:xfrm>
            <a:off x="8675291" y="1955223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sp>
        <p:nvSpPr>
          <p:cNvPr id="27" name="Ellipse"/>
          <p:cNvSpPr/>
          <p:nvPr/>
        </p:nvSpPr>
        <p:spPr>
          <a:xfrm>
            <a:off x="10642650" y="2266696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28" name="Text: ٤"/>
          <p:cNvSpPr txBox="1"/>
          <p:nvPr/>
        </p:nvSpPr>
        <p:spPr>
          <a:xfrm>
            <a:off x="10721330" y="2163763"/>
            <a:ext cx="5844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٤</a:t>
            </a:r>
            <a:endParaRPr lang="en-US" sz="1000" dirty="0"/>
          </a:p>
        </p:txBody>
      </p:sp>
      <p:sp>
        <p:nvSpPr>
          <p:cNvPr id="29" name="Text: التفعيلة"/>
          <p:cNvSpPr txBox="1"/>
          <p:nvPr/>
        </p:nvSpPr>
        <p:spPr>
          <a:xfrm>
            <a:off x="9957544" y="2190700"/>
            <a:ext cx="59620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التفعيلة</a:t>
            </a:r>
            <a:endParaRPr lang="en-US" sz="1300" dirty="0"/>
          </a:p>
        </p:txBody>
      </p:sp>
      <p:sp>
        <p:nvSpPr>
          <p:cNvPr id="30" name="Text: ؟ ؟ ؟"/>
          <p:cNvSpPr txBox="1"/>
          <p:nvPr/>
        </p:nvSpPr>
        <p:spPr>
          <a:xfrm>
            <a:off x="8675291" y="2259974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B4532A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sp>
        <p:nvSpPr>
          <p:cNvPr id="31" name="Rectangle"/>
          <p:cNvSpPr/>
          <p:nvPr/>
        </p:nvSpPr>
        <p:spPr>
          <a:xfrm>
            <a:off x="7258050" y="1308007"/>
            <a:ext cx="12688" cy="1219007"/>
          </a:xfrm>
          <a:prstGeom prst="rect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32" name="Ellipse"/>
          <p:cNvSpPr/>
          <p:nvPr/>
        </p:nvSpPr>
        <p:spPr>
          <a:xfrm>
            <a:off x="6889800" y="1352445"/>
            <a:ext cx="215876" cy="215876"/>
          </a:xfrm>
          <a:prstGeom prst="ellipse">
            <a:avLst/>
          </a:prstGeom>
          <a:solidFill>
            <a:srgbClr val="24305E"/>
          </a:solidFill>
          <a:ln>
            <a:noFill/>
          </a:ln>
        </p:spPr>
      </p:sp>
      <p:sp>
        <p:nvSpPr>
          <p:cNvPr id="33" name="Text: ١"/>
          <p:cNvSpPr txBox="1"/>
          <p:nvPr/>
        </p:nvSpPr>
        <p:spPr>
          <a:xfrm>
            <a:off x="6979642" y="1249505"/>
            <a:ext cx="3621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١</a:t>
            </a:r>
            <a:endParaRPr lang="en-US" sz="1000" dirty="0"/>
          </a:p>
        </p:txBody>
      </p:sp>
      <p:sp>
        <p:nvSpPr>
          <p:cNvPr id="34" name="Text: الكتابة العادية"/>
          <p:cNvSpPr txBox="1"/>
          <p:nvPr/>
        </p:nvSpPr>
        <p:spPr>
          <a:xfrm>
            <a:off x="5791299" y="1276449"/>
            <a:ext cx="100965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الكتابة العادية</a:t>
            </a:r>
            <a:endParaRPr lang="en-US" sz="1300" dirty="0"/>
          </a:p>
        </p:txBody>
      </p:sp>
      <p:sp>
        <p:nvSpPr>
          <p:cNvPr id="35" name="Text: أَتَى القَاضِي"/>
          <p:cNvSpPr txBox="1"/>
          <p:nvPr/>
        </p:nvSpPr>
        <p:spPr>
          <a:xfrm>
            <a:off x="4555182" y="1345716"/>
            <a:ext cx="75986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/>
                </a:solidFill>
                <a:latin typeface="Amiri"/>
                <a:ea typeface="Amiri"/>
                <a:cs typeface="Amiri"/>
              </a:rPr>
              <a:t>أَتَى القَاضِي</a:t>
            </a:r>
            <a:endParaRPr lang="en-US" sz="1700" dirty="0"/>
          </a:p>
        </p:txBody>
      </p:sp>
      <p:sp>
        <p:nvSpPr>
          <p:cNvPr id="36" name="Ellipse"/>
          <p:cNvSpPr/>
          <p:nvPr/>
        </p:nvSpPr>
        <p:spPr>
          <a:xfrm>
            <a:off x="6889800" y="1657195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37" name="Text: ٢"/>
          <p:cNvSpPr txBox="1"/>
          <p:nvPr/>
        </p:nvSpPr>
        <p:spPr>
          <a:xfrm>
            <a:off x="6970762" y="1554262"/>
            <a:ext cx="5397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٢</a:t>
            </a:r>
            <a:endParaRPr lang="en-US" sz="1000" dirty="0"/>
          </a:p>
        </p:txBody>
      </p:sp>
      <p:sp>
        <p:nvSpPr>
          <p:cNvPr id="38" name="Text: الكتابة العروضية"/>
          <p:cNvSpPr txBox="1"/>
          <p:nvPr/>
        </p:nvSpPr>
        <p:spPr>
          <a:xfrm>
            <a:off x="5593259" y="1581200"/>
            <a:ext cx="1207691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الكتابة العروضية</a:t>
            </a:r>
            <a:endParaRPr lang="en-US" sz="1300" dirty="0"/>
          </a:p>
        </p:txBody>
      </p:sp>
      <p:sp>
        <p:nvSpPr>
          <p:cNvPr id="39" name="Text: ؟ ؟ ؟"/>
          <p:cNvSpPr txBox="1"/>
          <p:nvPr/>
        </p:nvSpPr>
        <p:spPr>
          <a:xfrm>
            <a:off x="4922441" y="1650473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sp>
        <p:nvSpPr>
          <p:cNvPr id="40" name="Ellipse"/>
          <p:cNvSpPr/>
          <p:nvPr/>
        </p:nvSpPr>
        <p:spPr>
          <a:xfrm>
            <a:off x="6889800" y="1961945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41" name="Text: ٣"/>
          <p:cNvSpPr txBox="1"/>
          <p:nvPr/>
        </p:nvSpPr>
        <p:spPr>
          <a:xfrm>
            <a:off x="6957566" y="1859012"/>
            <a:ext cx="8041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٣</a:t>
            </a:r>
            <a:endParaRPr lang="en-US" sz="1000" dirty="0"/>
          </a:p>
        </p:txBody>
      </p:sp>
      <p:sp>
        <p:nvSpPr>
          <p:cNvPr id="42" name="Text: الرموز"/>
          <p:cNvSpPr txBox="1"/>
          <p:nvPr/>
        </p:nvSpPr>
        <p:spPr>
          <a:xfrm>
            <a:off x="6384330" y="1885950"/>
            <a:ext cx="41662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الرموز</a:t>
            </a:r>
            <a:endParaRPr lang="en-US" sz="1300" dirty="0"/>
          </a:p>
        </p:txBody>
      </p:sp>
      <p:sp>
        <p:nvSpPr>
          <p:cNvPr id="43" name="Text: ؟ ؟ ؟"/>
          <p:cNvSpPr txBox="1"/>
          <p:nvPr/>
        </p:nvSpPr>
        <p:spPr>
          <a:xfrm>
            <a:off x="4922441" y="1955223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4305E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sp>
        <p:nvSpPr>
          <p:cNvPr id="44" name="Ellipse"/>
          <p:cNvSpPr/>
          <p:nvPr/>
        </p:nvSpPr>
        <p:spPr>
          <a:xfrm>
            <a:off x="6889800" y="2266696"/>
            <a:ext cx="215876" cy="215876"/>
          </a:xfrm>
          <a:prstGeom prst="ellipse">
            <a:avLst/>
          </a:prstGeom>
          <a:solidFill>
            <a:srgbClr val="E9DCC0"/>
          </a:solidFill>
          <a:ln>
            <a:noFill/>
          </a:ln>
        </p:spPr>
      </p:sp>
      <p:sp>
        <p:nvSpPr>
          <p:cNvPr id="45" name="Text: ٤"/>
          <p:cNvSpPr txBox="1"/>
          <p:nvPr/>
        </p:nvSpPr>
        <p:spPr>
          <a:xfrm>
            <a:off x="6968530" y="2163763"/>
            <a:ext cx="5844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٤</a:t>
            </a:r>
            <a:endParaRPr lang="en-US" sz="1000" dirty="0"/>
          </a:p>
        </p:txBody>
      </p:sp>
      <p:sp>
        <p:nvSpPr>
          <p:cNvPr id="46" name="Text: التفعيلة"/>
          <p:cNvSpPr txBox="1"/>
          <p:nvPr/>
        </p:nvSpPr>
        <p:spPr>
          <a:xfrm>
            <a:off x="6204744" y="2190700"/>
            <a:ext cx="59620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التفعيلة</a:t>
            </a:r>
            <a:endParaRPr lang="en-US" sz="1300" dirty="0"/>
          </a:p>
        </p:txBody>
      </p:sp>
      <p:sp>
        <p:nvSpPr>
          <p:cNvPr id="47" name="Text: ؟ ؟ ؟"/>
          <p:cNvSpPr txBox="1"/>
          <p:nvPr/>
        </p:nvSpPr>
        <p:spPr>
          <a:xfrm>
            <a:off x="4922441" y="2259974"/>
            <a:ext cx="392609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B4532A">
                    <a:alpha val="18000"/>
                  </a:srgbClr>
                </a:solidFill>
                <a:latin typeface="Amiri"/>
                <a:ea typeface="Amiri"/>
                <a:cs typeface="Amiri"/>
              </a:rPr>
              <a:t>؟ ؟ ؟</a:t>
            </a:r>
            <a:endParaRPr lang="en-US" sz="1700" dirty="0"/>
          </a:p>
        </p:txBody>
      </p:sp>
      <p:pic>
        <p:nvPicPr>
          <p:cNvPr id="48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49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50" name="Rounded Rectangle"/>
          <p:cNvSpPr/>
          <p:nvPr/>
        </p:nvSpPr>
        <p:spPr>
          <a:xfrm>
            <a:off x="698500" y="4495750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51" name="Rounded Rectangle"/>
          <p:cNvSpPr/>
          <p:nvPr/>
        </p:nvSpPr>
        <p:spPr>
          <a:xfrm>
            <a:off x="10101808" y="4635438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52" name="Text: نشاط تفاعلي"/>
          <p:cNvSpPr txBox="1"/>
          <p:nvPr/>
        </p:nvSpPr>
        <p:spPr>
          <a:xfrm>
            <a:off x="10216059" y="4668118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53" name="Text: نشاط جماعي: اقصصي واكتبي"/>
          <p:cNvSpPr txBox="1"/>
          <p:nvPr/>
        </p:nvSpPr>
        <p:spPr>
          <a:xfrm>
            <a:off x="7517309" y="4640070"/>
            <a:ext cx="2470249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نشاط جماعي: اقصصي واكتبي</a:t>
            </a:r>
            <a:endParaRPr lang="en-US" sz="1500" dirty="0"/>
          </a:p>
        </p:txBody>
      </p:sp>
      <p:sp>
        <p:nvSpPr>
          <p:cNvPr id="54" name="Rounded Rectangle"/>
          <p:cNvSpPr/>
          <p:nvPr/>
        </p:nvSpPr>
        <p:spPr>
          <a:xfrm>
            <a:off x="9643517" y="5169960"/>
            <a:ext cx="1595979" cy="419064"/>
          </a:xfrm>
          <a:prstGeom prst="roundRect">
            <a:avLst>
              <a:gd name="adj" fmla="val 24245"/>
            </a:avLst>
          </a:prstGeom>
          <a:solidFill>
            <a:srgbClr val="D99A1E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55" name="Text: الخطوة التالية ←"/>
          <p:cNvSpPr txBox="1"/>
          <p:nvPr/>
        </p:nvSpPr>
        <p:spPr>
          <a:xfrm>
            <a:off x="9795917" y="5241144"/>
            <a:ext cx="1291233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الخطوة التالية ←</a:t>
            </a:r>
            <a:endParaRPr lang="en-US" sz="1400" dirty="0"/>
          </a:p>
        </p:txBody>
      </p:sp>
      <p:sp>
        <p:nvSpPr>
          <p:cNvPr id="56" name="Rounded Rectangle"/>
          <p:cNvSpPr/>
          <p:nvPr/>
        </p:nvSpPr>
        <p:spPr>
          <a:xfrm>
            <a:off x="9649290" y="5670984"/>
            <a:ext cx="1584433" cy="430609"/>
          </a:xfrm>
          <a:prstGeom prst="roundRect">
            <a:avLst>
              <a:gd name="adj" fmla="val 22254"/>
            </a:avLst>
          </a:prstGeom>
          <a:solidFill>
            <a:srgbClr val="FBF5E6">
              <a:alpha val="12000"/>
            </a:srgbClr>
          </a:solidFill>
          <a:ln w="11545" cap="flat" cmpd="sng" algn="ctr">
            <a:solidFill>
              <a:srgbClr val="FBF5E6">
                <a:alpha val="50000"/>
              </a:srgbClr>
            </a:solidFill>
            <a:prstDash val="dash"/>
            <a:miter lim="800000"/>
          </a:ln>
        </p:spPr>
      </p:sp>
      <p:sp>
        <p:nvSpPr>
          <p:cNvPr id="57" name="Text: ↺ من البداية"/>
          <p:cNvSpPr txBox="1"/>
          <p:nvPr/>
        </p:nvSpPr>
        <p:spPr>
          <a:xfrm>
            <a:off x="9964886" y="5747941"/>
            <a:ext cx="95319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↺ من البداية</a:t>
            </a:r>
            <a:endParaRPr lang="en-US" sz="1400" dirty="0"/>
          </a:p>
        </p:txBody>
      </p:sp>
      <p:sp>
        <p:nvSpPr>
          <p:cNvPr id="58" name="Rectangle"/>
          <p:cNvSpPr/>
          <p:nvPr/>
        </p:nvSpPr>
        <p:spPr>
          <a:xfrm>
            <a:off x="9478466" y="5041695"/>
            <a:ext cx="12688" cy="1193992"/>
          </a:xfrm>
          <a:prstGeom prst="rect">
            <a:avLst/>
          </a:prstGeom>
          <a:solidFill>
            <a:srgbClr val="FBF5E6">
              <a:alpha val="20000"/>
            </a:srgbClr>
          </a:solidFill>
          <a:ln>
            <a:noFill/>
          </a:ln>
        </p:spPr>
      </p:sp>
      <p:sp>
        <p:nvSpPr>
          <p:cNvPr id="59" name="Text: ١ . ت خ ر ج ط ا ل ب ة م ن ك ل م ج م و ع "/>
          <p:cNvSpPr txBox="1"/>
          <p:nvPr/>
        </p:nvSpPr>
        <p:spPr>
          <a:xfrm>
            <a:off x="5641231" y="5478562"/>
            <a:ext cx="3684836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١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.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ج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ن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ج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صّ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ك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إ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ج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250" dirty="0"/>
          </a:p>
        </p:txBody>
      </p:sp>
      <p:sp>
        <p:nvSpPr>
          <p:cNvPr id="60" name="Text: ٢ . ت ع و د ب ه ا إ ل ى م ج م و ع ت ه ا "/>
          <p:cNvSpPr txBox="1"/>
          <p:nvPr/>
        </p:nvSpPr>
        <p:spPr>
          <a:xfrm>
            <a:off x="5861546" y="5746812"/>
            <a:ext cx="3464520" cy="330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٢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.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د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إ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ى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ج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و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ع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،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ف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ج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ز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م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ي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ت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ه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ل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ط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ق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ة</a:t>
            </a:r>
            <a:br>
              <a:rPr lang="en-US" sz="1250"/>
            </a:b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أ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خ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ر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ى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.</a:t>
            </a:r>
            <a:endParaRPr lang="en-US" sz="1250" dirty="0"/>
          </a:p>
        </p:txBody>
      </p:sp>
      <p:sp>
        <p:nvSpPr>
          <p:cNvPr id="61" name="Text: ٣ . الفائزة : المجموعة التي تجمع أكبر عد"/>
          <p:cNvSpPr txBox="1"/>
          <p:nvPr/>
        </p:nvSpPr>
        <p:spPr>
          <a:xfrm>
            <a:off x="5220494" y="6015062"/>
            <a:ext cx="4105573" cy="3309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٣</a:t>
            </a:r>
            <a:br>
              <a:rPr lang="en-US" sz="1250"/>
            </a:b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.</a:t>
            </a:r>
            <a:br>
              <a:rPr lang="en-US" sz="1250"/>
            </a:br>
            <a:endParaRPr lang="en-US" sz="1250" dirty="0"/>
          </a:p>
          <a:p>
            <a:pPr algn="l">
              <a:lnSpc>
                <a:spcPts val="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D99A1E"/>
                </a:solidFill>
                <a:latin typeface="Tajawal"/>
                <a:ea typeface="Tajawal"/>
                <a:cs typeface="Tajawal"/>
              </a:rPr>
              <a:t>الفائزة</a:t>
            </a:r>
            <a:endParaRPr lang="en-US" sz="1250" dirty="0"/>
          </a:p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: المجموعة التي تجمع أكبر عدد من البطاقات الصحيحة.</a:t>
            </a:r>
            <a:endParaRPr lang="en-US" sz="1250" dirty="0"/>
          </a:p>
        </p:txBody>
      </p:sp>
      <p:sp>
        <p:nvSpPr>
          <p:cNvPr id="62" name="Rectangle"/>
          <p:cNvSpPr/>
          <p:nvPr/>
        </p:nvSpPr>
        <p:spPr>
          <a:xfrm>
            <a:off x="2501900" y="5041695"/>
            <a:ext cx="12688" cy="1193992"/>
          </a:xfrm>
          <a:prstGeom prst="rect">
            <a:avLst/>
          </a:prstGeom>
          <a:solidFill>
            <a:srgbClr val="FBF5E6">
              <a:alpha val="20000"/>
            </a:srgbClr>
          </a:solidFill>
          <a:ln>
            <a:noFill/>
          </a:ln>
        </p:spPr>
      </p:sp>
      <p:sp>
        <p:nvSpPr>
          <p:cNvPr id="63" name="Rounded Rectangle"/>
          <p:cNvSpPr/>
          <p:nvPr/>
        </p:nvSpPr>
        <p:spPr>
          <a:xfrm>
            <a:off x="952500" y="5138266"/>
            <a:ext cx="1397000" cy="584188"/>
          </a:xfrm>
          <a:prstGeom prst="roundRect">
            <a:avLst>
              <a:gd name="adj" fmla="val 21740"/>
            </a:avLst>
          </a:prstGeom>
          <a:solidFill>
            <a:srgbClr val="FBF5E6">
              <a:alpha val="10000"/>
            </a:srgbClr>
          </a:solidFill>
          <a:ln>
            <a:noFill/>
          </a:ln>
        </p:spPr>
      </p:sp>
      <p:sp>
        <p:nvSpPr>
          <p:cNvPr id="64" name="Text: ٤:٠٠"/>
          <p:cNvSpPr txBox="1"/>
          <p:nvPr/>
        </p:nvSpPr>
        <p:spPr>
          <a:xfrm>
            <a:off x="1283246" y="5200613"/>
            <a:ext cx="735509" cy="5842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٤:٠٠</a:t>
            </a:r>
            <a:endParaRPr lang="en-US" sz="3800" dirty="0"/>
          </a:p>
        </p:txBody>
      </p:sp>
      <p:sp>
        <p:nvSpPr>
          <p:cNvPr id="65" name="Rounded Rectangle"/>
          <p:cNvSpPr/>
          <p:nvPr/>
        </p:nvSpPr>
        <p:spPr>
          <a:xfrm>
            <a:off x="1503561" y="5785954"/>
            <a:ext cx="731753" cy="353159"/>
          </a:xfrm>
          <a:prstGeom prst="roundRect">
            <a:avLst>
              <a:gd name="adj" fmla="val 28769"/>
            </a:avLst>
          </a:prstGeom>
          <a:solidFill>
            <a:srgbClr val="D99A1E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66" name="Text: ▶ ابدئي"/>
          <p:cNvSpPr txBox="1"/>
          <p:nvPr/>
        </p:nvSpPr>
        <p:spPr>
          <a:xfrm>
            <a:off x="1617811" y="5842868"/>
            <a:ext cx="503238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▶ ابدئي</a:t>
            </a:r>
            <a:endParaRPr lang="en-US" sz="1200" dirty="0"/>
          </a:p>
        </p:txBody>
      </p:sp>
      <p:sp>
        <p:nvSpPr>
          <p:cNvPr id="67" name="Rounded Rectangle"/>
          <p:cNvSpPr/>
          <p:nvPr/>
        </p:nvSpPr>
        <p:spPr>
          <a:xfrm>
            <a:off x="1072523" y="5791727"/>
            <a:ext cx="361758" cy="341613"/>
          </a:xfrm>
          <a:prstGeom prst="roundRect">
            <a:avLst>
              <a:gd name="adj" fmla="val 28051"/>
            </a:avLst>
          </a:prstGeom>
          <a:solidFill>
            <a:srgbClr val="FBF5E6">
              <a:alpha val="12000"/>
            </a:srgbClr>
          </a:solidFill>
          <a:ln w="11545" cap="flat" cmpd="sng" algn="ctr">
            <a:solidFill>
              <a:srgbClr val="FBF5E6">
                <a:alpha val="50000"/>
              </a:srgbClr>
            </a:solidFill>
            <a:prstDash val="dash"/>
            <a:miter lim="800000"/>
          </a:ln>
        </p:spPr>
      </p:sp>
      <p:sp>
        <p:nvSpPr>
          <p:cNvPr id="68" name="Text: ↺"/>
          <p:cNvSpPr txBox="1"/>
          <p:nvPr/>
        </p:nvSpPr>
        <p:spPr>
          <a:xfrm>
            <a:off x="1192560" y="5842868"/>
            <a:ext cx="121692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↺</a:t>
            </a:r>
            <a:endParaRPr lang="en-US" sz="1200" dirty="0"/>
          </a:p>
        </p:txBody>
      </p:sp>
      <p:sp>
        <p:nvSpPr>
          <p:cNvPr id="69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70" name="Text: ١٣ / ١٤"/>
          <p:cNvSpPr txBox="1"/>
          <p:nvPr/>
        </p:nvSpPr>
        <p:spPr>
          <a:xfrm>
            <a:off x="698500" y="6716626"/>
            <a:ext cx="330597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١٣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Text: تذكرة الخروج"/>
          <p:cNvSpPr txBox="1"/>
          <p:nvPr/>
        </p:nvSpPr>
        <p:spPr>
          <a:xfrm>
            <a:off x="10421045" y="316756"/>
            <a:ext cx="90740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تذكرة الخروج</a:t>
            </a:r>
            <a:endParaRPr lang="en-US" sz="1300" dirty="0"/>
          </a:p>
        </p:txBody>
      </p:sp>
      <p:sp>
        <p:nvSpPr>
          <p:cNvPr id="4" name="Ellipse"/>
          <p:cNvSpPr/>
          <p:nvPr/>
        </p:nvSpPr>
        <p:spPr>
          <a:xfrm>
            <a:off x="11404650" y="397477"/>
            <a:ext cx="88876" cy="88876"/>
          </a:xfrm>
          <a:prstGeom prst="ellipse">
            <a:avLst/>
          </a:prstGeom>
          <a:solidFill>
            <a:srgbClr val="D99A1E"/>
          </a:solidFill>
          <a:ln>
            <a:noFill/>
          </a:ln>
        </p:spPr>
      </p:sp>
      <p:sp>
        <p:nvSpPr>
          <p:cNvPr id="5" name="Text: ماذا تعلّمنا اليوم؟"/>
          <p:cNvSpPr txBox="1"/>
          <p:nvPr/>
        </p:nvSpPr>
        <p:spPr>
          <a:xfrm>
            <a:off x="9433074" y="679207"/>
            <a:ext cx="2060426" cy="474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pc="-4" dirty="0">
                <a:solidFill>
                  <a:srgbClr val="24305E"/>
                </a:solidFill>
                <a:latin typeface="Aref Ruqaa"/>
                <a:ea typeface="Aref Ruqaa"/>
                <a:cs typeface="Aref Ruqaa"/>
              </a:rPr>
              <a:t>ماذا تعلّمنا اليوم؟</a:t>
            </a:r>
            <a:endParaRPr lang="en-US" sz="3400" dirty="0"/>
          </a:p>
        </p:txBody>
      </p:sp>
      <p:sp>
        <p:nvSpPr>
          <p:cNvPr id="6" name="Rounded Rectangle"/>
          <p:cNvSpPr/>
          <p:nvPr/>
        </p:nvSpPr>
        <p:spPr>
          <a:xfrm>
            <a:off x="3467050" y="3924312"/>
            <a:ext cx="8026436" cy="419064"/>
          </a:xfrm>
          <a:prstGeom prst="roundRect">
            <a:avLst>
              <a:gd name="adj" fmla="val 21214"/>
            </a:avLst>
          </a:prstGeom>
          <a:solidFill>
            <a:srgbClr val="F8E2A6"/>
          </a:solidFill>
          <a:ln>
            <a:noFill/>
          </a:ln>
          <a:effectLst>
            <a:outerShdw blurRad="88900" dist="38100" dir="5400000" sx="100000" sy="100000" algn="ctr" rotWithShape="0">
              <a:srgbClr val="D99A1E">
                <a:alpha val="18000"/>
              </a:srgbClr>
            </a:outerShdw>
          </a:effectLst>
        </p:spPr>
      </p:sp>
      <p:sp>
        <p:nvSpPr>
          <p:cNvPr id="7" name="Border"/>
          <p:cNvSpPr/>
          <p:nvPr/>
        </p:nvSpPr>
        <p:spPr>
          <a:xfrm>
            <a:off x="11431910" y="3924312"/>
            <a:ext cx="61576" cy="419064"/>
          </a:xfrm>
          <a:prstGeom prst="rect">
            <a:avLst/>
          </a:prstGeom>
          <a:solidFill>
            <a:srgbClr val="D99A1E"/>
          </a:solidFill>
          <a:ln>
            <a:noFill/>
          </a:ln>
        </p:spPr>
      </p:sp>
      <p:pic>
        <p:nvPicPr>
          <p:cNvPr id="8" name="Graphi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4019550"/>
            <a:ext cx="196850" cy="247650"/>
          </a:xfrm>
          <a:prstGeom prst="rect">
            <a:avLst/>
          </a:prstGeom>
          <a:ln>
            <a:noFill/>
          </a:ln>
        </p:spPr>
      </p:pic>
      <p:sp>
        <p:nvSpPr>
          <p:cNvPr id="9" name="Text: ملاحظة: أحسنتِ! صرتِ تسمعين الشعر بأذن ا"/>
          <p:cNvSpPr txBox="1"/>
          <p:nvPr/>
        </p:nvSpPr>
        <p:spPr>
          <a:xfrm>
            <a:off x="7205563" y="4269891"/>
            <a:ext cx="3807321" cy="12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B4532A"/>
                </a:solidFill>
                <a:latin typeface="Tajawal"/>
                <a:ea typeface="Tajawal"/>
                <a:cs typeface="Tajawal"/>
              </a:rPr>
              <a:t>ملاحظة:</a:t>
            </a:r>
            <a:br>
              <a:rPr lang="en-US" sz="1400"/>
            </a:br>
            <a:r>
              <a:rPr lang="en-US" sz="1400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أحسنتِ! صرتِ تسمعين الشعر بأذن الخليل.</a:t>
            </a:r>
            <a:endParaRPr lang="en-US" sz="1400" dirty="0"/>
          </a:p>
        </p:txBody>
      </p:sp>
      <p:pic>
        <p:nvPicPr>
          <p:cNvPr id="10" name="Rendered 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1136650"/>
            <a:ext cx="8293100" cy="2908300"/>
          </a:xfrm>
          <a:prstGeom prst="rect">
            <a:avLst/>
          </a:prstGeom>
          <a:ln>
            <a:noFill/>
          </a:ln>
        </p:spPr>
      </p:pic>
      <p:sp>
        <p:nvSpPr>
          <p:cNvPr id="11" name="Rectangle"/>
          <p:cNvSpPr/>
          <p:nvPr/>
        </p:nvSpPr>
        <p:spPr>
          <a:xfrm>
            <a:off x="10991949" y="1181001"/>
            <a:ext cx="19002" cy="2641744"/>
          </a:xfrm>
          <a:prstGeom prst="rect">
            <a:avLst/>
          </a:prstGeom>
          <a:solidFill>
            <a:srgbClr val="E08A86"/>
          </a:solidFill>
          <a:ln>
            <a:noFill/>
          </a:ln>
        </p:spPr>
      </p:sp>
      <p:sp>
        <p:nvSpPr>
          <p:cNvPr id="12" name="Ellipse"/>
          <p:cNvSpPr/>
          <p:nvPr/>
        </p:nvSpPr>
        <p:spPr>
          <a:xfrm>
            <a:off x="11163399" y="1603673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3" name="Ellipse"/>
          <p:cNvSpPr/>
          <p:nvPr/>
        </p:nvSpPr>
        <p:spPr>
          <a:xfrm>
            <a:off x="11163399" y="2449016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4" name="Ellipse"/>
          <p:cNvSpPr/>
          <p:nvPr/>
        </p:nvSpPr>
        <p:spPr>
          <a:xfrm>
            <a:off x="11163399" y="3294360"/>
            <a:ext cx="165064" cy="165064"/>
          </a:xfrm>
          <a:prstGeom prst="ellipse">
            <a:avLst/>
          </a:prstGeom>
          <a:solidFill>
            <a:srgbClr val="F6EDDA"/>
          </a:solidFill>
          <a:ln>
            <a:noFill/>
          </a:ln>
          <a:effectLst>
            <a:innerShdw blurRad="31750" dist="19050" dir="5400000">
              <a:srgbClr val="2A2233">
                <a:alpha val="25000"/>
              </a:srgbClr>
            </a:innerShdw>
          </a:effectLst>
        </p:spPr>
      </p:sp>
      <p:sp>
        <p:nvSpPr>
          <p:cNvPr id="15" name="Text: العروض ميزان الشعر، وضعه الخليل الفراهيد"/>
          <p:cNvSpPr txBox="1"/>
          <p:nvPr/>
        </p:nvSpPr>
        <p:spPr>
          <a:xfrm>
            <a:off x="6380063" y="1287990"/>
            <a:ext cx="4287986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العروض ميزان الشعر، وضعه الخليل الفراهيدي العُماني.</a:t>
            </a:r>
            <a:endParaRPr lang="en-US" sz="1500" dirty="0"/>
          </a:p>
        </p:txBody>
      </p:sp>
      <p:sp>
        <p:nvSpPr>
          <p:cNvPr id="16" name="Rounded Rectangle"/>
          <p:cNvSpPr/>
          <p:nvPr/>
        </p:nvSpPr>
        <p:spPr>
          <a:xfrm rot="2700000">
            <a:off x="10774910" y="1425523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17" name="Text: التفعيلات وحدات الوزن، والبحور ستة عشر."/>
          <p:cNvSpPr txBox="1"/>
          <p:nvPr/>
        </p:nvSpPr>
        <p:spPr>
          <a:xfrm>
            <a:off x="7420223" y="1592802"/>
            <a:ext cx="3247827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التفعيلات وحدات الوزن، والبحور ستة عشر.</a:t>
            </a:r>
            <a:endParaRPr lang="en-US" sz="1500" dirty="0"/>
          </a:p>
        </p:txBody>
      </p:sp>
      <p:sp>
        <p:nvSpPr>
          <p:cNvPr id="18" name="Rounded Rectangle"/>
          <p:cNvSpPr/>
          <p:nvPr/>
        </p:nvSpPr>
        <p:spPr>
          <a:xfrm rot="2700000">
            <a:off x="10774910" y="1730336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19" name="Text: للبيت صدرٌ وعجز، وآخرهما العَروض والضرب."/>
          <p:cNvSpPr txBox="1"/>
          <p:nvPr/>
        </p:nvSpPr>
        <p:spPr>
          <a:xfrm>
            <a:off x="7309594" y="1897614"/>
            <a:ext cx="3358455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للبيت صدرٌ وعجز، وآخرهما العَروض والضرب.</a:t>
            </a:r>
            <a:endParaRPr lang="en-US" sz="1500" dirty="0"/>
          </a:p>
        </p:txBody>
      </p:sp>
      <p:sp>
        <p:nvSpPr>
          <p:cNvPr id="20" name="Rounded Rectangle"/>
          <p:cNvSpPr/>
          <p:nvPr/>
        </p:nvSpPr>
        <p:spPr>
          <a:xfrm rot="2700000">
            <a:off x="10774910" y="2035148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1" name="Text: نكتب ما نسمع، ثم نرمز، ثم نطابق التفعيلة"/>
          <p:cNvSpPr txBox="1"/>
          <p:nvPr/>
        </p:nvSpPr>
        <p:spPr>
          <a:xfrm>
            <a:off x="7399040" y="2202427"/>
            <a:ext cx="3269010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A2233"/>
                </a:solidFill>
                <a:latin typeface="Tajawal"/>
                <a:ea typeface="Tajawal"/>
                <a:cs typeface="Tajawal"/>
              </a:rPr>
              <a:t>نكتب ما نسمع، ثم نرمز، ثم نطابق التفعيلة.</a:t>
            </a:r>
            <a:endParaRPr lang="en-US" sz="1500" dirty="0"/>
          </a:p>
        </p:txBody>
      </p:sp>
      <p:sp>
        <p:nvSpPr>
          <p:cNvPr id="22" name="Rounded Rectangle"/>
          <p:cNvSpPr/>
          <p:nvPr/>
        </p:nvSpPr>
        <p:spPr>
          <a:xfrm rot="2700000">
            <a:off x="10774910" y="2339961"/>
            <a:ext cx="76188" cy="76188"/>
          </a:xfrm>
          <a:prstGeom prst="roundRect">
            <a:avLst>
              <a:gd name="adj" fmla="val 25004"/>
            </a:avLst>
          </a:prstGeom>
          <a:solidFill>
            <a:srgbClr val="D99A1E"/>
          </a:solidFill>
          <a:ln>
            <a:noFill/>
          </a:ln>
        </p:spPr>
      </p:sp>
      <p:pic>
        <p:nvPicPr>
          <p:cNvPr id="23" name="Rendered 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775" y="4057650"/>
            <a:ext cx="1695450" cy="241300"/>
          </a:xfrm>
          <a:prstGeom prst="rect">
            <a:avLst/>
          </a:prstGeom>
          <a:ln>
            <a:noFill/>
          </a:ln>
        </p:spPr>
      </p:pic>
      <p:pic>
        <p:nvPicPr>
          <p:cNvPr id="24" name="Rendered 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30200"/>
            <a:ext cx="2540000" cy="4006850"/>
          </a:xfrm>
          <a:prstGeom prst="rect">
            <a:avLst/>
          </a:prstGeom>
          <a:ln>
            <a:noFill/>
          </a:ln>
        </p:spPr>
      </p:pic>
      <p:sp>
        <p:nvSpPr>
          <p:cNvPr id="25" name="Rounded Rectangle"/>
          <p:cNvSpPr/>
          <p:nvPr/>
        </p:nvSpPr>
        <p:spPr>
          <a:xfrm>
            <a:off x="698500" y="4495750"/>
            <a:ext cx="10794999" cy="1905000"/>
          </a:xfrm>
          <a:prstGeom prst="roundRect">
            <a:avLst>
              <a:gd name="adj" fmla="val 9333"/>
            </a:avLst>
          </a:prstGeom>
          <a:gradFill rotWithShape="1">
            <a:gsLst>
              <a:gs pos="0">
                <a:srgbClr val="24305E"/>
              </a:gs>
              <a:gs pos="100000">
                <a:srgbClr val="1A2347"/>
              </a:gs>
            </a:gsLst>
            <a:lin ang="2700000" scaled="0"/>
          </a:gradFill>
          <a:ln>
            <a:noFill/>
          </a:ln>
          <a:effectLst>
            <a:outerShdw blurRad="190500" dist="101600" dir="5400000" sx="100000" sy="100000" algn="ctr" rotWithShape="0">
              <a:srgbClr val="1A2347">
                <a:alpha val="25000"/>
              </a:srgbClr>
            </a:outerShdw>
          </a:effectLst>
        </p:spPr>
      </p:sp>
      <p:sp>
        <p:nvSpPr>
          <p:cNvPr id="26" name="Rounded Rectangle"/>
          <p:cNvSpPr/>
          <p:nvPr/>
        </p:nvSpPr>
        <p:spPr>
          <a:xfrm>
            <a:off x="10101808" y="4635438"/>
            <a:ext cx="1137708" cy="304692"/>
          </a:xfrm>
          <a:prstGeom prst="roundRect">
            <a:avLst>
              <a:gd name="adj" fmla="val 50000"/>
            </a:avLst>
          </a:prstGeom>
          <a:solidFill>
            <a:srgbClr val="D99A1E"/>
          </a:solidFill>
          <a:ln>
            <a:noFill/>
          </a:ln>
        </p:spPr>
      </p:sp>
      <p:sp>
        <p:nvSpPr>
          <p:cNvPr id="27" name="Text: نشاط تفاعلي"/>
          <p:cNvSpPr txBox="1"/>
          <p:nvPr/>
        </p:nvSpPr>
        <p:spPr>
          <a:xfrm>
            <a:off x="10216059" y="4668118"/>
            <a:ext cx="9091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1A2347"/>
                </a:solidFill>
                <a:latin typeface="Tajawal"/>
                <a:ea typeface="Tajawal"/>
                <a:cs typeface="Tajawal"/>
              </a:rPr>
              <a:t>نشاط تفاعلي</a:t>
            </a:r>
            <a:endParaRPr lang="en-US" sz="1200" dirty="0"/>
          </a:p>
        </p:txBody>
      </p:sp>
      <p:sp>
        <p:nvSpPr>
          <p:cNvPr id="28" name="Text: أجيبي عن الأسئلة الأربعة"/>
          <p:cNvSpPr txBox="1"/>
          <p:nvPr/>
        </p:nvSpPr>
        <p:spPr>
          <a:xfrm>
            <a:off x="7947422" y="4640070"/>
            <a:ext cx="2040136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أجيبي عن الأسئلة الأربعة</a:t>
            </a:r>
            <a:endParaRPr lang="en-US" sz="1500" dirty="0"/>
          </a:p>
        </p:txBody>
      </p:sp>
      <p:sp>
        <p:nvSpPr>
          <p:cNvPr id="29" name="Rounded Rectangle"/>
          <p:cNvSpPr/>
          <p:nvPr/>
        </p:nvSpPr>
        <p:spPr>
          <a:xfrm>
            <a:off x="8787823" y="5047468"/>
            <a:ext cx="2445892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30" name="Text: واضع علم العروض هو:"/>
          <p:cNvSpPr txBox="1"/>
          <p:nvPr/>
        </p:nvSpPr>
        <p:spPr>
          <a:xfrm>
            <a:off x="9476532" y="5137451"/>
            <a:ext cx="1649859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واضع علم العروض هو:</a:t>
            </a:r>
            <a:endParaRPr lang="en-US" sz="1300" dirty="0"/>
          </a:p>
        </p:txBody>
      </p:sp>
      <p:sp>
        <p:nvSpPr>
          <p:cNvPr id="31" name="Rounded Rectangle"/>
          <p:cNvSpPr/>
          <p:nvPr/>
        </p:nvSpPr>
        <p:spPr>
          <a:xfrm>
            <a:off x="10042575" y="5754266"/>
            <a:ext cx="1083829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32" name="Text: الأخفش"/>
          <p:cNvSpPr txBox="1"/>
          <p:nvPr/>
        </p:nvSpPr>
        <p:spPr>
          <a:xfrm>
            <a:off x="10266363" y="5812761"/>
            <a:ext cx="636240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الأخفش</a:t>
            </a:r>
            <a:endParaRPr lang="en-US" sz="1400" dirty="0"/>
          </a:p>
        </p:txBody>
      </p:sp>
      <p:sp>
        <p:nvSpPr>
          <p:cNvPr id="33" name="Rounded Rectangle"/>
          <p:cNvSpPr/>
          <p:nvPr/>
        </p:nvSpPr>
        <p:spPr>
          <a:xfrm>
            <a:off x="8895159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34" name="Text: الخليل"/>
          <p:cNvSpPr txBox="1"/>
          <p:nvPr/>
        </p:nvSpPr>
        <p:spPr>
          <a:xfrm>
            <a:off x="9183439" y="5812761"/>
            <a:ext cx="50730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الخليل</a:t>
            </a:r>
            <a:endParaRPr lang="en-US" sz="1400" dirty="0"/>
          </a:p>
        </p:txBody>
      </p:sp>
      <p:sp>
        <p:nvSpPr>
          <p:cNvPr id="35" name="Rounded Rectangle"/>
          <p:cNvSpPr/>
          <p:nvPr/>
        </p:nvSpPr>
        <p:spPr>
          <a:xfrm>
            <a:off x="6177973" y="5047468"/>
            <a:ext cx="2445952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36" name="Text: الحرف الذي تُبنى عليه القصيدة:"/>
          <p:cNvSpPr txBox="1"/>
          <p:nvPr/>
        </p:nvSpPr>
        <p:spPr>
          <a:xfrm>
            <a:off x="6325245" y="5137451"/>
            <a:ext cx="2191345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الحرف الذي تُبنى عليه القصيدة:</a:t>
            </a:r>
            <a:endParaRPr lang="en-US" sz="1300" dirty="0"/>
          </a:p>
        </p:txBody>
      </p:sp>
      <p:sp>
        <p:nvSpPr>
          <p:cNvPr id="37" name="Rounded Rectangle"/>
          <p:cNvSpPr/>
          <p:nvPr/>
        </p:nvSpPr>
        <p:spPr>
          <a:xfrm>
            <a:off x="7432675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38" name="Text: الروي"/>
          <p:cNvSpPr txBox="1"/>
          <p:nvPr/>
        </p:nvSpPr>
        <p:spPr>
          <a:xfrm>
            <a:off x="7762825" y="5812761"/>
            <a:ext cx="423565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الروي</a:t>
            </a:r>
            <a:endParaRPr lang="en-US" sz="1400" dirty="0"/>
          </a:p>
        </p:txBody>
      </p:sp>
      <p:sp>
        <p:nvSpPr>
          <p:cNvPr id="39" name="Rounded Rectangle"/>
          <p:cNvSpPr/>
          <p:nvPr/>
        </p:nvSpPr>
        <p:spPr>
          <a:xfrm>
            <a:off x="6285309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0" name="Text: العَروض"/>
          <p:cNvSpPr txBox="1"/>
          <p:nvPr/>
        </p:nvSpPr>
        <p:spPr>
          <a:xfrm>
            <a:off x="6499820" y="5812761"/>
            <a:ext cx="65484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400" dirty="0"/>
          </a:p>
        </p:txBody>
      </p:sp>
      <p:sp>
        <p:nvSpPr>
          <p:cNvPr id="41" name="Rounded Rectangle"/>
          <p:cNvSpPr/>
          <p:nvPr/>
        </p:nvSpPr>
        <p:spPr>
          <a:xfrm>
            <a:off x="3568172" y="5047468"/>
            <a:ext cx="2445892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42" name="Text: آخر تفعيلة في العجز:"/>
          <p:cNvSpPr txBox="1"/>
          <p:nvPr/>
        </p:nvSpPr>
        <p:spPr>
          <a:xfrm>
            <a:off x="4440337" y="5137451"/>
            <a:ext cx="1466354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آخر تفعيلة في العجز:</a:t>
            </a:r>
            <a:endParaRPr lang="en-US" sz="1300" dirty="0"/>
          </a:p>
        </p:txBody>
      </p:sp>
      <p:sp>
        <p:nvSpPr>
          <p:cNvPr id="43" name="Rounded Rectangle"/>
          <p:cNvSpPr/>
          <p:nvPr/>
        </p:nvSpPr>
        <p:spPr>
          <a:xfrm>
            <a:off x="4822875" y="5754266"/>
            <a:ext cx="1083829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4" name="Text: العَروض"/>
          <p:cNvSpPr txBox="1"/>
          <p:nvPr/>
        </p:nvSpPr>
        <p:spPr>
          <a:xfrm>
            <a:off x="5037386" y="5812761"/>
            <a:ext cx="654844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العَروض</a:t>
            </a:r>
            <a:endParaRPr lang="en-US" sz="1400" dirty="0"/>
          </a:p>
        </p:txBody>
      </p:sp>
      <p:sp>
        <p:nvSpPr>
          <p:cNvPr id="45" name="Rounded Rectangle"/>
          <p:cNvSpPr/>
          <p:nvPr/>
        </p:nvSpPr>
        <p:spPr>
          <a:xfrm>
            <a:off x="3675509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46" name="Text: الضرب"/>
          <p:cNvSpPr txBox="1"/>
          <p:nvPr/>
        </p:nvSpPr>
        <p:spPr>
          <a:xfrm>
            <a:off x="3950891" y="5812761"/>
            <a:ext cx="53310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الضرب</a:t>
            </a:r>
            <a:endParaRPr lang="en-US" sz="1400" dirty="0"/>
          </a:p>
        </p:txBody>
      </p:sp>
      <p:sp>
        <p:nvSpPr>
          <p:cNvPr id="47" name="Rounded Rectangle"/>
          <p:cNvSpPr/>
          <p:nvPr/>
        </p:nvSpPr>
        <p:spPr>
          <a:xfrm>
            <a:off x="958273" y="5047468"/>
            <a:ext cx="2445952" cy="1182447"/>
          </a:xfrm>
          <a:prstGeom prst="roundRect">
            <a:avLst>
              <a:gd name="adj" fmla="val 10252"/>
            </a:avLst>
          </a:prstGeom>
          <a:solidFill>
            <a:srgbClr val="FBF5E6">
              <a:alpha val="7000"/>
            </a:srgbClr>
          </a:solidFill>
          <a:ln w="11545" cap="flat" cmpd="sng" algn="ctr">
            <a:solidFill>
              <a:srgbClr val="FBF5E6">
                <a:alpha val="16000"/>
              </a:srgbClr>
            </a:solidFill>
            <a:miter lim="800000"/>
          </a:ln>
        </p:spPr>
      </p:sp>
      <p:sp>
        <p:nvSpPr>
          <p:cNvPr id="48" name="Text: عدد بحور الشعر:"/>
          <p:cNvSpPr txBox="1"/>
          <p:nvPr/>
        </p:nvSpPr>
        <p:spPr>
          <a:xfrm>
            <a:off x="2123827" y="5137451"/>
            <a:ext cx="117306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BF5E6"/>
                </a:solidFill>
                <a:latin typeface="Tajawal"/>
                <a:ea typeface="Tajawal"/>
                <a:cs typeface="Tajawal"/>
              </a:rPr>
              <a:t>عدد بحور الشعر:</a:t>
            </a:r>
            <a:endParaRPr lang="en-US" sz="1300" dirty="0"/>
          </a:p>
        </p:txBody>
      </p:sp>
      <p:sp>
        <p:nvSpPr>
          <p:cNvPr id="49" name="Rounded Rectangle"/>
          <p:cNvSpPr/>
          <p:nvPr/>
        </p:nvSpPr>
        <p:spPr>
          <a:xfrm>
            <a:off x="2213025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50" name="Text: ١٦ ب ح رً ا"/>
          <p:cNvSpPr txBox="1"/>
          <p:nvPr/>
        </p:nvSpPr>
        <p:spPr>
          <a:xfrm>
            <a:off x="2513806" y="6079461"/>
            <a:ext cx="482253" cy="38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١٦</a:t>
            </a:r>
            <a:br>
              <a:rPr lang="en-US" sz="1400"/>
            </a:b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رً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</p:txBody>
      </p:sp>
      <p:sp>
        <p:nvSpPr>
          <p:cNvPr id="51" name="Rounded Rectangle"/>
          <p:cNvSpPr/>
          <p:nvPr/>
        </p:nvSpPr>
        <p:spPr>
          <a:xfrm>
            <a:off x="1065609" y="5754266"/>
            <a:ext cx="1083890" cy="393688"/>
          </a:xfrm>
          <a:prstGeom prst="roundRect">
            <a:avLst>
              <a:gd name="adj" fmla="val 25807"/>
            </a:avLst>
          </a:prstGeom>
          <a:solidFill>
            <a:srgbClr val="FBF5E6"/>
          </a:solidFill>
          <a:ln>
            <a:noFill/>
          </a:ln>
          <a:effectLst>
            <a:outerShdw blurRad="0" dist="31750" dir="5400000" sx="100000" sy="100000" algn="ctr" rotWithShape="0">
              <a:srgbClr val="000000">
                <a:alpha val="28000"/>
              </a:srgbClr>
            </a:outerShdw>
          </a:effectLst>
        </p:spPr>
      </p:sp>
      <p:sp>
        <p:nvSpPr>
          <p:cNvPr id="52" name="Text: ١٢ ب ح رً ا"/>
          <p:cNvSpPr txBox="1"/>
          <p:nvPr/>
        </p:nvSpPr>
        <p:spPr>
          <a:xfrm>
            <a:off x="1366391" y="6079461"/>
            <a:ext cx="482253" cy="38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١٢</a:t>
            </a:r>
            <a:br>
              <a:rPr lang="en-US" sz="1400"/>
            </a:b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ب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ح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رً</a:t>
            </a:r>
            <a:br>
              <a:rPr lang="en-US" sz="1400"/>
            </a:br>
            <a:r>
              <a:rPr lang="en-US" sz="14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ا</a:t>
            </a:r>
            <a:endParaRPr lang="en-US" sz="1400" dirty="0"/>
          </a:p>
        </p:txBody>
      </p:sp>
      <p:sp>
        <p:nvSpPr>
          <p:cNvPr id="53" name="Text: أساسيات في علم العروض · أ. أسماء الحارثي"/>
          <p:cNvSpPr txBox="1"/>
          <p:nvPr/>
        </p:nvSpPr>
        <p:spPr>
          <a:xfrm>
            <a:off x="8909844" y="6499380"/>
            <a:ext cx="258365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A4E5F"/>
                </a:solidFill>
                <a:latin typeface="Tajawal"/>
                <a:ea typeface="Tajawal"/>
                <a:cs typeface="Tajawal"/>
              </a:rPr>
              <a:t>أساسيات في علم العروض · أ. أسماء الحارثية</a:t>
            </a:r>
            <a:endParaRPr lang="en-US" sz="1100" dirty="0"/>
          </a:p>
        </p:txBody>
      </p:sp>
      <p:sp>
        <p:nvSpPr>
          <p:cNvPr id="54" name="Text: ١٤ / ١٤"/>
          <p:cNvSpPr txBox="1"/>
          <p:nvPr/>
        </p:nvSpPr>
        <p:spPr>
          <a:xfrm>
            <a:off x="698500" y="6716626"/>
            <a:ext cx="306338" cy="19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/</a:t>
            </a:r>
            <a:br>
              <a:rPr lang="en-US" sz="1100"/>
            </a:br>
            <a:r>
              <a:rPr lang="en-US" sz="1100" b="1" spc="-4" dirty="0">
                <a:solidFill>
                  <a:srgbClr val="24305E"/>
                </a:solidFill>
                <a:latin typeface="Tajawal"/>
                <a:ea typeface="Tajawal"/>
                <a:cs typeface="Tajawal"/>
              </a:rPr>
              <a:t>١٤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