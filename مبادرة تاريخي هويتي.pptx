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بادرة" id="{c356a9cd-2055-2dd8-f3f0-a5b1670ccbbf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itiative One-Pag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24128"/>
            <a:ext cx="1127729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OM" altLang="en-US" sz="4000" b="1" dirty="0">
                <a:solidFill>
                  <a:schemeClr val="bg1"/>
                </a:solidFill>
              </a:rPr>
              <a:t>مبادرة </a:t>
            </a:r>
            <a:pPr algn="ctr" indent="0" marL="0">
              <a:buNone/>
            </a:pPr>
            <a:r>
              <a:rPr lang="ar-OM" altLang="en-US" sz="4000" b="1" dirty="0">
                <a:solidFill>
                  <a:schemeClr val="accent3"/>
                </a:solidFill>
              </a:rPr>
              <a:t>تاريخي هويتي</a:t>
            </a:r>
            <a:endParaRPr lang="ar-OM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2412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OM" altLang="en-US" sz="1800" dirty="0">
                <a:solidFill>
                  <a:schemeClr val="bg2"/>
                </a:solidFill>
              </a:rPr>
              <a:t>الشخصيات العُمانية التاريخية من خلال الأنشطة التعليمية</a:t>
            </a:r>
            <a:endParaRPr lang="ar-OM" sz="1800" dirty="0"/>
          </a:p>
        </p:txBody>
      </p:sp>
      <p:sp>
        <p:nvSpPr>
          <p:cNvPr id="4" name="goals-card"/>
          <p:cNvSpPr/>
          <p:nvPr/>
        </p:nvSpPr>
        <p:spPr>
          <a:xfrm>
            <a:off x="6278728" y="1645920"/>
            <a:ext cx="5455768" cy="4846320"/>
          </a:xfrm>
          <a:prstGeom prst="roundRect">
            <a:avLst>
              <a:gd name="adj" fmla="val 28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goals-badge"/>
          <p:cNvSpPr/>
          <p:nvPr/>
        </p:nvSpPr>
        <p:spPr>
          <a:xfrm>
            <a:off x="10865815" y="1920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goals-badge-glyph"/>
          <p:cNvSpPr txBox="1"/>
          <p:nvPr/>
        </p:nvSpPr>
        <p:spPr>
          <a:xfrm>
            <a:off x="10865815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◎</a:t>
            </a:r>
            <a:endParaRPr lang="en-US" sz="2200" dirty="0"/>
          </a:p>
        </p:txBody>
      </p:sp>
      <p:sp>
        <p:nvSpPr>
          <p:cNvPr id="7" name="goals-heading"/>
          <p:cNvSpPr txBox="1"/>
          <p:nvPr/>
        </p:nvSpPr>
        <p:spPr>
          <a:xfrm>
            <a:off x="6598768" y="192024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chemeClr val="accent1"/>
                </a:solidFill>
              </a:rPr>
              <a:t>الأهداف</a:t>
            </a:r>
            <a:endParaRPr lang="ar-OM" sz="2400" dirty="0"/>
          </a:p>
        </p:txBody>
      </p:sp>
      <p:sp>
        <p:nvSpPr>
          <p:cNvPr id="8" name="goals-num-1"/>
          <p:cNvSpPr/>
          <p:nvPr/>
        </p:nvSpPr>
        <p:spPr>
          <a:xfrm>
            <a:off x="10975543" y="27614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goals-num-label-1"/>
          <p:cNvSpPr txBox="1"/>
          <p:nvPr/>
        </p:nvSpPr>
        <p:spPr>
          <a:xfrm>
            <a:off x="10975543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١</a:t>
            </a:r>
            <a:endParaRPr lang="en-US" sz="1300" dirty="0"/>
          </a:p>
        </p:txBody>
      </p:sp>
      <p:sp>
        <p:nvSpPr>
          <p:cNvPr id="10" name="goals-item-1"/>
          <p:cNvSpPr txBox="1"/>
          <p:nvPr/>
        </p:nvSpPr>
        <p:spPr>
          <a:xfrm>
            <a:off x="6598768" y="26974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تعزيز الهوية الوطنية والانتماء لعُمان</a:t>
            </a:r>
            <a:endParaRPr lang="ar-OM" sz="1500" dirty="0"/>
          </a:p>
        </p:txBody>
      </p:sp>
      <p:sp>
        <p:nvSpPr>
          <p:cNvPr id="11" name="goals-num-2"/>
          <p:cNvSpPr/>
          <p:nvPr/>
        </p:nvSpPr>
        <p:spPr>
          <a:xfrm>
            <a:off x="10975543" y="32186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goals-num-label-2"/>
          <p:cNvSpPr txBox="1"/>
          <p:nvPr/>
        </p:nvSpPr>
        <p:spPr>
          <a:xfrm>
            <a:off x="10975543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٢</a:t>
            </a:r>
            <a:endParaRPr lang="en-US" sz="1300" dirty="0"/>
          </a:p>
        </p:txBody>
      </p:sp>
      <p:sp>
        <p:nvSpPr>
          <p:cNvPr id="13" name="goals-item-2"/>
          <p:cNvSpPr txBox="1"/>
          <p:nvPr/>
        </p:nvSpPr>
        <p:spPr>
          <a:xfrm>
            <a:off x="6598768" y="31546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التعريف بالشخصيات العُمانية التاريخية وإسهاماتها</a:t>
            </a:r>
            <a:endParaRPr lang="ar-OM" sz="1500" dirty="0"/>
          </a:p>
        </p:txBody>
      </p:sp>
      <p:sp>
        <p:nvSpPr>
          <p:cNvPr id="14" name="goals-num-3"/>
          <p:cNvSpPr/>
          <p:nvPr/>
        </p:nvSpPr>
        <p:spPr>
          <a:xfrm>
            <a:off x="10975543" y="36758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goals-num-label-3"/>
          <p:cNvSpPr txBox="1"/>
          <p:nvPr/>
        </p:nvSpPr>
        <p:spPr>
          <a:xfrm>
            <a:off x="10975543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٣</a:t>
            </a:r>
            <a:endParaRPr lang="en-US" sz="1300" dirty="0"/>
          </a:p>
        </p:txBody>
      </p:sp>
      <p:sp>
        <p:nvSpPr>
          <p:cNvPr id="16" name="goals-item-3"/>
          <p:cNvSpPr txBox="1"/>
          <p:nvPr/>
        </p:nvSpPr>
        <p:spPr>
          <a:xfrm>
            <a:off x="6598768" y="36118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ترسيخ القيم المستمدة من سِيَر الشخصيات</a:t>
            </a:r>
            <a:endParaRPr lang="ar-OM" sz="1500" dirty="0"/>
          </a:p>
        </p:txBody>
      </p:sp>
      <p:sp>
        <p:nvSpPr>
          <p:cNvPr id="17" name="goals-num-4"/>
          <p:cNvSpPr/>
          <p:nvPr/>
        </p:nvSpPr>
        <p:spPr>
          <a:xfrm>
            <a:off x="10975543" y="41330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goals-num-label-4"/>
          <p:cNvSpPr txBox="1"/>
          <p:nvPr/>
        </p:nvSpPr>
        <p:spPr>
          <a:xfrm>
            <a:off x="10975543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٤</a:t>
            </a:r>
            <a:endParaRPr lang="en-US" sz="1300" dirty="0"/>
          </a:p>
        </p:txBody>
      </p:sp>
      <p:sp>
        <p:nvSpPr>
          <p:cNvPr id="19" name="goals-item-4"/>
          <p:cNvSpPr txBox="1"/>
          <p:nvPr/>
        </p:nvSpPr>
        <p:spPr>
          <a:xfrm>
            <a:off x="6598768" y="40690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تحويل تعلّم التاريخ إلى تجربة نشطة وممتعة</a:t>
            </a:r>
            <a:endParaRPr lang="ar-OM" sz="1500" dirty="0"/>
          </a:p>
        </p:txBody>
      </p:sp>
      <p:sp>
        <p:nvSpPr>
          <p:cNvPr id="20" name="goals-num-5"/>
          <p:cNvSpPr/>
          <p:nvPr/>
        </p:nvSpPr>
        <p:spPr>
          <a:xfrm>
            <a:off x="10975543" y="45902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goals-num-label-5"/>
          <p:cNvSpPr txBox="1"/>
          <p:nvPr/>
        </p:nvSpPr>
        <p:spPr>
          <a:xfrm>
            <a:off x="10975543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٥</a:t>
            </a:r>
            <a:endParaRPr lang="en-US" sz="1300" dirty="0"/>
          </a:p>
        </p:txBody>
      </p:sp>
      <p:sp>
        <p:nvSpPr>
          <p:cNvPr id="22" name="goals-item-5"/>
          <p:cNvSpPr txBox="1"/>
          <p:nvPr/>
        </p:nvSpPr>
        <p:spPr>
          <a:xfrm>
            <a:off x="6598768" y="45262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تنمية مهارات البحث والتفكير الناقد والإبداع</a:t>
            </a:r>
            <a:endParaRPr lang="ar-OM" sz="1500" dirty="0"/>
          </a:p>
        </p:txBody>
      </p:sp>
      <p:sp>
        <p:nvSpPr>
          <p:cNvPr id="23" name="goals-num-6"/>
          <p:cNvSpPr/>
          <p:nvPr/>
        </p:nvSpPr>
        <p:spPr>
          <a:xfrm>
            <a:off x="10975543" y="50474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goals-num-label-6"/>
          <p:cNvSpPr txBox="1"/>
          <p:nvPr/>
        </p:nvSpPr>
        <p:spPr>
          <a:xfrm>
            <a:off x="10975543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٦</a:t>
            </a:r>
            <a:endParaRPr lang="en-US" sz="1300" dirty="0"/>
          </a:p>
        </p:txBody>
      </p:sp>
      <p:sp>
        <p:nvSpPr>
          <p:cNvPr id="25" name="goals-item-6"/>
          <p:cNvSpPr txBox="1"/>
          <p:nvPr/>
        </p:nvSpPr>
        <p:spPr>
          <a:xfrm>
            <a:off x="6598768" y="49834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تقديم الشخصيات التاريخية قدوةً ملهمة للطلبة</a:t>
            </a:r>
            <a:endParaRPr lang="ar-OM" sz="1500" dirty="0"/>
          </a:p>
        </p:txBody>
      </p:sp>
      <p:sp>
        <p:nvSpPr>
          <p:cNvPr id="26" name="goals-num-7"/>
          <p:cNvSpPr/>
          <p:nvPr/>
        </p:nvSpPr>
        <p:spPr>
          <a:xfrm>
            <a:off x="10975543" y="55046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goals-num-label-7"/>
          <p:cNvSpPr txBox="1"/>
          <p:nvPr/>
        </p:nvSpPr>
        <p:spPr>
          <a:xfrm>
            <a:off x="10975543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٧</a:t>
            </a:r>
            <a:endParaRPr lang="en-US" sz="1300" dirty="0"/>
          </a:p>
        </p:txBody>
      </p:sp>
      <p:sp>
        <p:nvSpPr>
          <p:cNvPr id="28" name="goals-item-7"/>
          <p:cNvSpPr txBox="1"/>
          <p:nvPr/>
        </p:nvSpPr>
        <p:spPr>
          <a:xfrm>
            <a:off x="6598768" y="54406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توظيف التقنية في توثيق التراث العُماني وعرضه</a:t>
            </a:r>
            <a:endParaRPr lang="ar-OM" sz="1500" dirty="0"/>
          </a:p>
        </p:txBody>
      </p:sp>
      <p:sp>
        <p:nvSpPr>
          <p:cNvPr id="29" name="goals-num-8"/>
          <p:cNvSpPr/>
          <p:nvPr/>
        </p:nvSpPr>
        <p:spPr>
          <a:xfrm>
            <a:off x="10975543" y="59618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goals-num-label-8"/>
          <p:cNvSpPr txBox="1"/>
          <p:nvPr/>
        </p:nvSpPr>
        <p:spPr>
          <a:xfrm>
            <a:off x="10975543" y="5961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٨</a:t>
            </a:r>
            <a:endParaRPr lang="en-US" sz="1300" dirty="0"/>
          </a:p>
        </p:txBody>
      </p:sp>
      <p:sp>
        <p:nvSpPr>
          <p:cNvPr id="31" name="goals-item-8"/>
          <p:cNvSpPr txBox="1"/>
          <p:nvPr/>
        </p:nvSpPr>
        <p:spPr>
          <a:xfrm>
            <a:off x="6598768" y="58978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تعزيز الشراكة بين المدرسة والأسرة والمجتمع</a:t>
            </a:r>
            <a:endParaRPr lang="ar-OM" sz="1500" dirty="0"/>
          </a:p>
        </p:txBody>
      </p:sp>
      <p:sp>
        <p:nvSpPr>
          <p:cNvPr id="32" name="results-card"/>
          <p:cNvSpPr/>
          <p:nvPr/>
        </p:nvSpPr>
        <p:spPr>
          <a:xfrm>
            <a:off x="457200" y="1645920"/>
            <a:ext cx="5455768" cy="4846320"/>
          </a:xfrm>
          <a:prstGeom prst="roundRect">
            <a:avLst>
              <a:gd name="adj" fmla="val 28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3" name="results-badge"/>
          <p:cNvSpPr/>
          <p:nvPr/>
        </p:nvSpPr>
        <p:spPr>
          <a:xfrm>
            <a:off x="5044288" y="1920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results-badge-glyph"/>
          <p:cNvSpPr txBox="1"/>
          <p:nvPr/>
        </p:nvSpPr>
        <p:spPr>
          <a:xfrm>
            <a:off x="504428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★</a:t>
            </a:r>
            <a:endParaRPr lang="en-US" sz="2200" dirty="0"/>
          </a:p>
        </p:txBody>
      </p:sp>
      <p:sp>
        <p:nvSpPr>
          <p:cNvPr id="35" name="results-heading"/>
          <p:cNvSpPr txBox="1"/>
          <p:nvPr/>
        </p:nvSpPr>
        <p:spPr>
          <a:xfrm>
            <a:off x="777240" y="192024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2400" b="1" dirty="0">
                <a:solidFill>
                  <a:schemeClr val="accent2"/>
                </a:solidFill>
              </a:rPr>
              <a:t>النتائج المرجوة</a:t>
            </a:r>
            <a:endParaRPr lang="ar-OM" sz="2400" dirty="0"/>
          </a:p>
        </p:txBody>
      </p:sp>
      <p:sp>
        <p:nvSpPr>
          <p:cNvPr id="36" name="results-num-1"/>
          <p:cNvSpPr/>
          <p:nvPr/>
        </p:nvSpPr>
        <p:spPr>
          <a:xfrm>
            <a:off x="5154016" y="27614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results-num-label-1"/>
          <p:cNvSpPr txBox="1"/>
          <p:nvPr/>
        </p:nvSpPr>
        <p:spPr>
          <a:xfrm>
            <a:off x="5154016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١</a:t>
            </a:r>
            <a:endParaRPr lang="en-US" sz="1300" dirty="0"/>
          </a:p>
        </p:txBody>
      </p:sp>
      <p:sp>
        <p:nvSpPr>
          <p:cNvPr id="38" name="results-item-1"/>
          <p:cNvSpPr txBox="1"/>
          <p:nvPr/>
        </p:nvSpPr>
        <p:spPr>
          <a:xfrm>
            <a:off x="777240" y="26974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اعتزاز أكبر بالهوية العُمانية وتاريخ الوطن</a:t>
            </a:r>
            <a:endParaRPr lang="ar-OM" sz="1500" dirty="0"/>
          </a:p>
        </p:txBody>
      </p:sp>
      <p:sp>
        <p:nvSpPr>
          <p:cNvPr id="39" name="results-num-2"/>
          <p:cNvSpPr/>
          <p:nvPr/>
        </p:nvSpPr>
        <p:spPr>
          <a:xfrm>
            <a:off x="5154016" y="32186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results-num-label-2"/>
          <p:cNvSpPr txBox="1"/>
          <p:nvPr/>
        </p:nvSpPr>
        <p:spPr>
          <a:xfrm>
            <a:off x="5154016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٢</a:t>
            </a:r>
            <a:endParaRPr lang="en-US" sz="1300" dirty="0"/>
          </a:p>
        </p:txBody>
      </p:sp>
      <p:sp>
        <p:nvSpPr>
          <p:cNvPr id="41" name="results-item-2"/>
          <p:cNvSpPr txBox="1"/>
          <p:nvPr/>
        </p:nvSpPr>
        <p:spPr>
          <a:xfrm>
            <a:off x="777240" y="31546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معرفة الطلبة بالشخصيات العُمانية وأبرز إنجازاتها</a:t>
            </a:r>
            <a:endParaRPr lang="ar-OM" sz="1500" dirty="0"/>
          </a:p>
        </p:txBody>
      </p:sp>
      <p:sp>
        <p:nvSpPr>
          <p:cNvPr id="42" name="results-num-3"/>
          <p:cNvSpPr/>
          <p:nvPr/>
        </p:nvSpPr>
        <p:spPr>
          <a:xfrm>
            <a:off x="5154016" y="36758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3" name="results-num-label-3"/>
          <p:cNvSpPr txBox="1"/>
          <p:nvPr/>
        </p:nvSpPr>
        <p:spPr>
          <a:xfrm>
            <a:off x="5154016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٣</a:t>
            </a:r>
            <a:endParaRPr lang="en-US" sz="1300" dirty="0"/>
          </a:p>
        </p:txBody>
      </p:sp>
      <p:sp>
        <p:nvSpPr>
          <p:cNvPr id="44" name="results-item-3"/>
          <p:cNvSpPr txBox="1"/>
          <p:nvPr/>
        </p:nvSpPr>
        <p:spPr>
          <a:xfrm>
            <a:off x="777240" y="36118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تمثّل قيم الشخصيات في السلوك اليومي</a:t>
            </a:r>
            <a:endParaRPr lang="ar-OM" sz="1500" dirty="0"/>
          </a:p>
        </p:txBody>
      </p:sp>
      <p:sp>
        <p:nvSpPr>
          <p:cNvPr id="45" name="results-num-4"/>
          <p:cNvSpPr/>
          <p:nvPr/>
        </p:nvSpPr>
        <p:spPr>
          <a:xfrm>
            <a:off x="5154016" y="41330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results-num-label-4"/>
          <p:cNvSpPr txBox="1"/>
          <p:nvPr/>
        </p:nvSpPr>
        <p:spPr>
          <a:xfrm>
            <a:off x="5154016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٤</a:t>
            </a:r>
            <a:endParaRPr lang="en-US" sz="1300" dirty="0"/>
          </a:p>
        </p:txBody>
      </p:sp>
      <p:sp>
        <p:nvSpPr>
          <p:cNvPr id="47" name="results-item-4"/>
          <p:cNvSpPr txBox="1"/>
          <p:nvPr/>
        </p:nvSpPr>
        <p:spPr>
          <a:xfrm>
            <a:off x="777240" y="40690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دافعية أعلى لتعلّم التاريخ والدراسات الاجتماعية</a:t>
            </a:r>
            <a:endParaRPr lang="ar-OM" sz="1500" dirty="0"/>
          </a:p>
        </p:txBody>
      </p:sp>
      <p:sp>
        <p:nvSpPr>
          <p:cNvPr id="48" name="results-num-5"/>
          <p:cNvSpPr/>
          <p:nvPr/>
        </p:nvSpPr>
        <p:spPr>
          <a:xfrm>
            <a:off x="5154016" y="45902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9" name="results-num-label-5"/>
          <p:cNvSpPr txBox="1"/>
          <p:nvPr/>
        </p:nvSpPr>
        <p:spPr>
          <a:xfrm>
            <a:off x="5154016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٥</a:t>
            </a:r>
            <a:endParaRPr lang="en-US" sz="1300" dirty="0"/>
          </a:p>
        </p:txBody>
      </p:sp>
      <p:sp>
        <p:nvSpPr>
          <p:cNvPr id="50" name="results-item-5"/>
          <p:cNvSpPr txBox="1"/>
          <p:nvPr/>
        </p:nvSpPr>
        <p:spPr>
          <a:xfrm>
            <a:off x="777240" y="45262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أعمال طلابية إبداعية تُعرض في معرض ختامي</a:t>
            </a:r>
            <a:endParaRPr lang="ar-OM" sz="1500" dirty="0"/>
          </a:p>
        </p:txBody>
      </p:sp>
      <p:sp>
        <p:nvSpPr>
          <p:cNvPr id="51" name="results-num-6"/>
          <p:cNvSpPr/>
          <p:nvPr/>
        </p:nvSpPr>
        <p:spPr>
          <a:xfrm>
            <a:off x="5154016" y="50474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2" name="results-num-label-6"/>
          <p:cNvSpPr txBox="1"/>
          <p:nvPr/>
        </p:nvSpPr>
        <p:spPr>
          <a:xfrm>
            <a:off x="5154016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٦</a:t>
            </a:r>
            <a:endParaRPr lang="en-US" sz="1300" dirty="0"/>
          </a:p>
        </p:txBody>
      </p:sp>
      <p:sp>
        <p:nvSpPr>
          <p:cNvPr id="53" name="results-item-6"/>
          <p:cNvSpPr txBox="1"/>
          <p:nvPr/>
        </p:nvSpPr>
        <p:spPr>
          <a:xfrm>
            <a:off x="777240" y="49834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تحسّن مهارات البحث والإلقاء والعمل الجماعي</a:t>
            </a:r>
            <a:endParaRPr lang="ar-OM" sz="1500" dirty="0"/>
          </a:p>
        </p:txBody>
      </p:sp>
      <p:sp>
        <p:nvSpPr>
          <p:cNvPr id="54" name="results-num-7"/>
          <p:cNvSpPr/>
          <p:nvPr/>
        </p:nvSpPr>
        <p:spPr>
          <a:xfrm>
            <a:off x="5154016" y="55046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5" name="results-num-label-7"/>
          <p:cNvSpPr txBox="1"/>
          <p:nvPr/>
        </p:nvSpPr>
        <p:spPr>
          <a:xfrm>
            <a:off x="5154016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٧</a:t>
            </a:r>
            <a:endParaRPr lang="en-US" sz="1300" dirty="0"/>
          </a:p>
        </p:txBody>
      </p:sp>
      <p:sp>
        <p:nvSpPr>
          <p:cNvPr id="56" name="results-item-7"/>
          <p:cNvSpPr txBox="1"/>
          <p:nvPr/>
        </p:nvSpPr>
        <p:spPr>
          <a:xfrm>
            <a:off x="777240" y="54406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بنك أنشطة تعليمية قابل للتطبيق والتعميم</a:t>
            </a:r>
            <a:endParaRPr lang="ar-OM" sz="1500" dirty="0"/>
          </a:p>
        </p:txBody>
      </p:sp>
      <p:sp>
        <p:nvSpPr>
          <p:cNvPr id="57" name="results-num-8"/>
          <p:cNvSpPr/>
          <p:nvPr/>
        </p:nvSpPr>
        <p:spPr>
          <a:xfrm>
            <a:off x="5154016" y="59618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8" name="results-num-label-8"/>
          <p:cNvSpPr txBox="1"/>
          <p:nvPr/>
        </p:nvSpPr>
        <p:spPr>
          <a:xfrm>
            <a:off x="5154016" y="5961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٨</a:t>
            </a:r>
            <a:endParaRPr lang="en-US" sz="1300" dirty="0"/>
          </a:p>
        </p:txBody>
      </p:sp>
      <p:sp>
        <p:nvSpPr>
          <p:cNvPr id="59" name="results-item-8"/>
          <p:cNvSpPr txBox="1"/>
          <p:nvPr/>
        </p:nvSpPr>
        <p:spPr>
          <a:xfrm>
            <a:off x="777240" y="5897880"/>
            <a:ext cx="419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OM" altLang="en-US" sz="1500" dirty="0">
                <a:solidFill>
                  <a:schemeClr val="tx1"/>
                </a:solidFill>
              </a:rPr>
              <a:t>تفاعل أوسع لأولياء الأمور والمجتمع المحلي</a:t>
            </a:r>
            <a:endParaRPr lang="ar-OM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rikhi Hawiyati">
  <a:themeElements>
    <a:clrScheme name="Tarikhi Hawiyati">
      <a:dk1>
        <a:srgbClr val="2B1A1C"/>
      </a:dk1>
      <a:lt1>
        <a:srgbClr val="FFFFFF"/>
      </a:lt1>
      <a:dk2>
        <a:srgbClr val="6E1C27"/>
      </a:dk2>
      <a:lt2>
        <a:srgbClr val="F4EFEA"/>
      </a:lt2>
      <a:accent1>
        <a:srgbClr val="6E1C27"/>
      </a:accent1>
      <a:accent2>
        <a:srgbClr val="2E6B3F"/>
      </a:accent2>
      <a:accent3>
        <a:srgbClr val="C9A227"/>
      </a:accent3>
      <a:accent4>
        <a:srgbClr val="B85042"/>
      </a:accent4>
      <a:accent5>
        <a:srgbClr val="5C4A3D"/>
      </a:accent5>
      <a:accent6>
        <a:srgbClr val="8A8A8A"/>
      </a:accent6>
      <a:hlink>
        <a:srgbClr val="2E6B3F"/>
      </a:hlink>
      <a:folHlink>
        <a:srgbClr val="6E1C27"/>
      </a:folHlink>
    </a:clrScheme>
    <a:fontScheme name="Tarikhi Hawiyat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مبادرة تاريخي هويتي</dc:title>
  <dc:subject>PptxGenJS Presentation</dc:subject>
  <dc:creator>PptxGenJS</dc:creator>
  <cp:lastModifiedBy>PptxGenJS</cp:lastModifiedBy>
  <cp:revision>1</cp:revision>
  <dcterms:created xsi:type="dcterms:W3CDTF">2026-10-24T18:08:16Z</dcterms:created>
  <dcterms:modified xsi:type="dcterms:W3CDTF">2026-10-24T18:08:16Z</dcterms:modified>
</cp:coreProperties>
</file>